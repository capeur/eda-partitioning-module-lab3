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Avant d'améliorer une coupe, il faut une première coupe, appelée la bipartition initiale. Vous allez découvrir trois façons de la construire : aléatoire, gloutonne et par croissance. Sur un même petit graphe, elles donnent des coupes de trois à seize. La bonne habitude qui règle ça : essayer plusieurs départs, garder le meilleur.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puce est faite de petites briques appelées cellules, reliées par des fils. Notre exemple a cinq cellules, nommées de A à E. Certaines paires partagent beaucoup de fils, d'autres un seul.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dessine chaque cellule comme un point, appelé nœud. Un trait entre deux nœuds est une arête. Son nombre, le poids, compte les fils entre les deux cellules. A–B et D–E sont les plus lourdes, avec cinq fils chacune.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Couper les cellules en deux côtés s'appelle une bipartition. Les arêtes qui passent d'un côté à l'autre sont coupées, et dessinées en rouge. La taille de coupe additionne leurs poids : ici, deux plus un font trois.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Tout mettre du même côté donne une coupe de zéro, mais cela ne sert à rien. On vérifie donc aussi l'équilibre : combien de cellules chaque côté contient. Une partition est valide quand aucun côté ne dépasse trois cellules sur cinq.</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labs quatre et cinq enseignent deux méthodes célèbres, appelées KL et FM. Elles améliorent une partition en déplaçant des cellules d'un côté à l'autre. Mais KL et FM ont besoin d'une partition valide pour démarrer. Pensez à former deux équipes : d'abord deux équipes au hasard, puis des échanges. Un bon premier découpage laisse moins d'échanges à faire. Faites une pause et devinez : le hasard peut-il aussi trouver une coupe de trois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recettes courtes peuvent construire une première partition : aléatoire, gloutonne et par croissance. Et oui, une partition au hasard peut atteindre une coupe de trois, avec de la chance. Chaque recette met deux cellules d'un côté, et trois de l'autre.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recette un est l'aléatoire. Mélangez les cinq noms comme des cartes, et donnez-en deux à un côté. Un nombre appelé la graine fixe le mélange : la même graine donne toujours la même partition. La graine cinq met D et E ensemble. Seules C–D et C–E sont coupées : trois.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recette deux est gloutonne : à chaque étape, elle prend ce qui paraît le meilleur sur le moment. Elle garde l'arête la plus lourde, A–B, d'un seul côté. D, qui n'a aucun fil vers A ou B, démarre l'autre côté. Chaque autre cellule rejoint le côté où elle coupe le moins. La coupe vaut encore trois.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recette trois est la croissance : un côté s'étend depuis un nœud de départ, comme une goutte d'encre sur le papier. Partons de D. L'arête la plus lourde qui sort de D va vers E, donc E le rejoint. Deux cellules suffisent, donc le côté s'arrête. A, B et C forment l'autre côté : encore une coupe de trois.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trois méthodes trouvent une coupe de trois. Faites une pause et devinez : était-ce de la chance ?</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seul mélange malchanceux peut rendre la coupe plus de cinq fois pire. Donc oui, c'était en partie de la chance. Avec la graine trois, B et D tombent d'un côté, et A, C et E de l'autre.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Additionnons la coupe, arête par arête. A–B cinq, B–C quatre, C–D deux, et D–E cinq. Cela fait seize.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deux arêtes lourdes sont coupées : c'est la pire partition valide qui existe. Sur seize graines, la coupe va de trois à seize. Seules trois de ces graines trouvent la meilleure coupe, trois.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croissance n'a pas de hasard, mais elle a un choix : le nœud de départ. Partons de A au lieu de 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L'arête la plus lourde qui sort de A va vers B, avec un poids de cinq, donc B rejoint A. Avec deux cellules, le côté est plein, et il s'arrête.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 D et E forment l'autre côté, donc A–C et B–C sont coupées. Un plus quatre font cinq, ce qui est pire que trois. Partir de C est encore pire : une coupe de neuf.</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solution est simple : essayer plusieurs départs, garder le meilleur. Construisez quelques graines aléatoires, le glouton, et la croissance depuis chaque nœud. Jetez toute partition qui enfreint la règle de taille, puis gardez la plus petite coupe. Ici, le glouton et les cinq croissances donnent trois, cinq, cinq, neuf, trois et trois. Le meilleur est donc trois : A, B et C contre D et E. Faites une pause et devinez : une coupe plus petite peut-elle être le mauvais choix ?</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pièges peuvent tromper une méthode qui a l'air raisonnable. Et oui, une coupe plus petite peut être le mauvais choix. Voici une étoile : A au milieu, relié à cinq autres cellules. Un ancien glouton sans limite de taille ajoutait toujours des cellules près de A. Il finissait avec cinq cellules contre une, et une coupe de cinq.</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Avec six cellules, il en faut trois par côté, donc cette partition n'est pas valide. Notre glouton arrête chaque côté à trois cellules, et obtient quinze. Aucune partition valide de cette étoile ne fait mieux.</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Dans ce graphe, A–B et D–E pèsent cinq toutes les deux. Le glouton doit en choisir une pour démarrer. La règle prend le plus petit nom, A–B, et cela donne une coupe de neuf.</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Démarrer de D–E donne une coupe de quatre. Une simple règle de départage a donc plus que doublé la coupe. La croissance depuis C trouve aussi quatre.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deux triangles, reliés par un seul pont, C–D, de poids quatre. Chaque arête de triangle pèse trois. Le glouton démarre de l'arête la plus lourde, qui est ici le pont lui-même. C et D commencent donc du même côté, et la coupe finit à douze.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croissance depuis A garde son triangle ensemble, et ne coupe que le pont : quatre. Faites une pause et devinez : la croissance est-elle toujours meilleure que le glouton ?</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vous maintenant de construire les partitions. Et non, la croissance n'est pas toujours meilleure : sur notre premier graphe, le glouton trouvait trois, et la croissance depuis A seulement cinq. Dans le lab du navigateur, vous cliquez sur les cellules pour les changer de côté, et vous voyez les deux nombres changer. Vous pouvez aussi lancer l'aléatoire, le glouton et la croissance. Les défis vérifient la partition que vous avez construite, pas le bouton sur lequel vous avez cliqué.</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vous aimez programmer, écrivez les trois recettes en Python. Le fichier d'exemples donne les règles exactes, égalités comprises. Lancez d'abord le vérificateur pour afficher toutes les bonnes réponses. Puis lancez-le sur votre propre fichier. Il passe aussi le graphe à l'envers, donc une règle de départage manquante se voit comme un échec.</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L'aléatoire est rapide, mais il dépend de la chance. Le glouton garde les arêtes lourdes dedans, mais égalités et ponts le trompent. La croissance dépend de son nœud de départ. Donnez l'équilibre avec chaque coupe, et ne laissez aucun côté dépasser sa limite. Départagez par le nom, pas par l'ordre du fichier d'entrée. Donc : essayer plusieurs départs, garder le meilleur départ valide.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Choisissez un parcours : le lab dans le navigateur, Python, ou les deux. Cochez chaque case de la liste de contrôle, puis faites le court quiz. La suite, c'est Kernighan–Lin, qui part de votre partition et l'améliore. Faites une pause et devinez : de combien peut-il réduire la coupe malchanceuse de seize ? Le lab quatre vous le montrera.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Bipartition initiale</a:t>
            </a:r>
          </a:p>
          <a:p>
            <a:pPr algn="ctr">
              <a:lnSpc>
                <a:spcPts val="2200"/>
              </a:lnSpc>
              <a:spcBef>
                <a:spcPts val="1400"/>
              </a:spcBef>
            </a:pPr>
            <a:r>
              <a:rPr sz="2600" b="0">
                <a:solidFill>
                  <a:srgbClr val="333333"/>
                </a:solidFill>
                <a:latin typeface="Calibri"/>
              </a:rPr>
              <a:t>Avant d'améliorer une coupe, il faut une première coupe, appelée la bipartition initiale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D'une puce à un graphe</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Une puce est faite de petites briques appelées cellules, reliées par des fils</a:t>
            </a:r>
          </a:p>
          <a:p>
            <a:pPr lvl="0" marL="457200" indent="-228600">
              <a:buFont typeface="Calibri"/>
              <a:spcAft>
                <a:spcPts val="1000"/>
              </a:spcAft>
              <a:buSzPct val="100000"/>
              <a:buChar char="•"/>
              <a:lnSpc>
                <a:spcPts val="2200"/>
              </a:lnSpc>
            </a:pPr>
            <a:r>
              <a:rPr sz="2000" b="0">
                <a:solidFill>
                  <a:srgbClr val="333333"/>
                </a:solidFill>
                <a:latin typeface="Calibri"/>
              </a:rPr>
              <a:t>Notre exemple a cinq cellules, nommées de A à E</a:t>
            </a:r>
          </a:p>
          <a:p>
            <a:pPr lvl="0" marL="457200" indent="-228600">
              <a:buFont typeface="Calibri"/>
              <a:spcAft>
                <a:spcPts val="1000"/>
              </a:spcAft>
              <a:buSzPct val="100000"/>
              <a:buChar char="•"/>
              <a:lnSpc>
                <a:spcPts val="2200"/>
              </a:lnSpc>
            </a:pPr>
            <a:r>
              <a:rPr sz="2000" b="0">
                <a:solidFill>
                  <a:srgbClr val="333333"/>
                </a:solidFill>
                <a:latin typeface="Calibri"/>
              </a:rPr>
              <a:t>Certaines paires partagent beaucoup de fils, d'autres un seul</a:t>
            </a:r>
          </a:p>
        </p:txBody>
      </p:sp>
      <p:pic>
        <p:nvPicPr>
          <p:cNvPr id="4" name="Picture 3" descr="chip-to-graph-1.png"/>
          <p:cNvPicPr>
            <a:picLocks noChangeAspect="1"/>
          </p:cNvPicPr>
          <p:nvPr/>
        </p:nvPicPr>
        <p:blipFill>
          <a:blip r:embed="rId2"/>
          <a:stretch>
            <a:fillRect/>
          </a:stretch>
        </p:blipFill>
        <p:spPr>
          <a:xfrm>
            <a:off x="6172200" y="1234440"/>
            <a:ext cx="3978092" cy="4754879"/>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Les cellules deviennent des points, les fils des traits</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On dessine chaque cellule comme un point, appelé nœud</a:t>
            </a:r>
          </a:p>
          <a:p>
            <a:pPr lvl="0" marL="457200" indent="-228600">
              <a:buFont typeface="Calibri"/>
              <a:spcAft>
                <a:spcPts val="1000"/>
              </a:spcAft>
              <a:buSzPct val="100000"/>
              <a:buChar char="•"/>
              <a:lnSpc>
                <a:spcPts val="2200"/>
              </a:lnSpc>
            </a:pPr>
            <a:r>
              <a:rPr sz="2000" b="0">
                <a:solidFill>
                  <a:srgbClr val="333333"/>
                </a:solidFill>
                <a:latin typeface="Calibri"/>
              </a:rPr>
              <a:t>Un trait entre deux nœuds est une arête</a:t>
            </a:r>
          </a:p>
          <a:p>
            <a:pPr lvl="0" marL="457200" indent="-228600">
              <a:buFont typeface="Calibri"/>
              <a:spcAft>
                <a:spcPts val="1000"/>
              </a:spcAft>
              <a:buSzPct val="100000"/>
              <a:buChar char="•"/>
              <a:lnSpc>
                <a:spcPts val="2200"/>
              </a:lnSpc>
            </a:pPr>
            <a:r>
              <a:rPr sz="2000" b="0">
                <a:solidFill>
                  <a:srgbClr val="333333"/>
                </a:solidFill>
                <a:latin typeface="Calibri"/>
              </a:rPr>
              <a:t>Son nombre, le poids, compte les fils entre les deux cellules</a:t>
            </a:r>
          </a:p>
          <a:p>
            <a:pPr lvl="0" marL="457200" indent="-228600">
              <a:buFont typeface="Calibri"/>
              <a:spcAft>
                <a:spcPts val="1000"/>
              </a:spcAft>
              <a:buSzPct val="100000"/>
              <a:buChar char="•"/>
              <a:lnSpc>
                <a:spcPts val="2200"/>
              </a:lnSpc>
            </a:pPr>
            <a:r>
              <a:rPr sz="2000" b="0">
                <a:solidFill>
                  <a:srgbClr val="333333"/>
                </a:solidFill>
                <a:latin typeface="Calibri"/>
              </a:rPr>
              <a:t>A–B et D–E sont les plus lourdes, avec cinq fils chacune</a:t>
            </a:r>
          </a:p>
        </p:txBody>
      </p:sp>
      <p:pic>
        <p:nvPicPr>
          <p:cNvPr id="4" name="Picture 3" descr="chip-to-graph.png"/>
          <p:cNvPicPr>
            <a:picLocks noChangeAspect="1"/>
          </p:cNvPicPr>
          <p:nvPr/>
        </p:nvPicPr>
        <p:blipFill>
          <a:blip r:embed="rId2"/>
          <a:stretch>
            <a:fillRect/>
          </a:stretch>
        </p:blipFill>
        <p:spPr>
          <a:xfrm>
            <a:off x="6172200" y="1234440"/>
            <a:ext cx="3978092" cy="4754879"/>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Deux nombres : coupe et équilibre</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Couper les cellules en deux côtés s'appelle une bipartition</a:t>
            </a:r>
          </a:p>
          <a:p>
            <a:pPr lvl="0" marL="457200" indent="-228600">
              <a:buFont typeface="Calibri"/>
              <a:spcAft>
                <a:spcPts val="1000"/>
              </a:spcAft>
              <a:buSzPct val="100000"/>
              <a:buChar char="•"/>
              <a:lnSpc>
                <a:spcPts val="2200"/>
              </a:lnSpc>
            </a:pPr>
            <a:r>
              <a:rPr sz="2000" b="0">
                <a:solidFill>
                  <a:srgbClr val="333333"/>
                </a:solidFill>
                <a:latin typeface="Calibri"/>
              </a:rPr>
              <a:t>Les arêtes qui passent d'un côté à l'autre sont coupées, et dessinées en rouge</a:t>
            </a:r>
          </a:p>
          <a:p>
            <a:pPr lvl="0" marL="457200" indent="-228600">
              <a:buFont typeface="Calibri"/>
              <a:spcAft>
                <a:spcPts val="1000"/>
              </a:spcAft>
              <a:buSzPct val="100000"/>
              <a:buChar char="•"/>
              <a:lnSpc>
                <a:spcPts val="2200"/>
              </a:lnSpc>
            </a:pPr>
            <a:r>
              <a:rPr sz="2000" b="0">
                <a:solidFill>
                  <a:srgbClr val="333333"/>
                </a:solidFill>
                <a:latin typeface="Calibri"/>
              </a:rPr>
              <a:t>La taille de coupe additionne leurs poids : ici, deux plus un font trois</a:t>
            </a:r>
          </a:p>
        </p:txBody>
      </p:sp>
      <p:pic>
        <p:nvPicPr>
          <p:cNvPr id="4" name="Picture 3" descr="cut-and-balance-1.png"/>
          <p:cNvPicPr>
            <a:picLocks noChangeAspect="1"/>
          </p:cNvPicPr>
          <p:nvPr/>
        </p:nvPicPr>
        <p:blipFill>
          <a:blip r:embed="rId2"/>
          <a:stretch>
            <a:fillRect/>
          </a:stretch>
        </p:blipFill>
        <p:spPr>
          <a:xfrm>
            <a:off x="6172200" y="1234440"/>
            <a:ext cx="4007853" cy="4754879"/>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L'équilibre : aucun côté trop gros</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Tout mettre du même côté donne une coupe de zéro, mais cela ne sert à rien</a:t>
            </a:r>
          </a:p>
          <a:p>
            <a:pPr lvl="0" marL="457200" indent="-228600">
              <a:buFont typeface="Calibri"/>
              <a:spcAft>
                <a:spcPts val="1000"/>
              </a:spcAft>
              <a:buSzPct val="100000"/>
              <a:buChar char="•"/>
              <a:lnSpc>
                <a:spcPts val="2200"/>
              </a:lnSpc>
            </a:pPr>
            <a:r>
              <a:rPr sz="2000" b="0">
                <a:solidFill>
                  <a:srgbClr val="333333"/>
                </a:solidFill>
                <a:latin typeface="Calibri"/>
              </a:rPr>
              <a:t>On vérifie donc aussi l'équilibre : combien de cellules chaque côté contient</a:t>
            </a:r>
          </a:p>
          <a:p>
            <a:pPr lvl="0" marL="457200" indent="-228600">
              <a:buFont typeface="Calibri"/>
              <a:spcAft>
                <a:spcPts val="1000"/>
              </a:spcAft>
              <a:buSzPct val="100000"/>
              <a:buChar char="•"/>
              <a:lnSpc>
                <a:spcPts val="2200"/>
              </a:lnSpc>
            </a:pPr>
            <a:r>
              <a:rPr sz="2000" b="0">
                <a:solidFill>
                  <a:srgbClr val="333333"/>
                </a:solidFill>
                <a:latin typeface="Calibri"/>
              </a:rPr>
              <a:t>Une partition est valide quand aucun côté ne dépasse trois cellules sur cinq</a:t>
            </a:r>
          </a:p>
        </p:txBody>
      </p:sp>
      <p:pic>
        <p:nvPicPr>
          <p:cNvPr id="4" name="Picture 3" descr="cut-and-balance.png"/>
          <p:cNvPicPr>
            <a:picLocks noChangeAspect="1"/>
          </p:cNvPicPr>
          <p:nvPr/>
        </p:nvPicPr>
        <p:blipFill>
          <a:blip r:embed="rId2"/>
          <a:stretch>
            <a:fillRect/>
          </a:stretch>
        </p:blipFill>
        <p:spPr>
          <a:xfrm>
            <a:off x="6172200" y="1234440"/>
            <a:ext cx="4007853" cy="4754879"/>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Pourquoi une partition de départ ?</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Les labs quatre et cinq enseignent deux méthodes célèbres, appelées KL et FM</a:t>
            </a:r>
          </a:p>
          <a:p>
            <a:pPr lvl="0" marL="457200" indent="-228600">
              <a:buFont typeface="Calibri"/>
              <a:spcAft>
                <a:spcPts val="1000"/>
              </a:spcAft>
              <a:buSzPct val="100000"/>
              <a:buChar char="•"/>
              <a:lnSpc>
                <a:spcPts val="2200"/>
              </a:lnSpc>
            </a:pPr>
            <a:r>
              <a:rPr sz="2000" b="0">
                <a:solidFill>
                  <a:srgbClr val="333333"/>
                </a:solidFill>
                <a:latin typeface="Calibri"/>
              </a:rPr>
              <a:t>Elles améliorent une partition en déplaçant des cellules d'un côté à l'autre</a:t>
            </a:r>
          </a:p>
          <a:p>
            <a:pPr lvl="0" marL="457200" indent="-228600">
              <a:buFont typeface="Calibri"/>
              <a:spcAft>
                <a:spcPts val="1000"/>
              </a:spcAft>
              <a:buSzPct val="100000"/>
              <a:buChar char="•"/>
              <a:lnSpc>
                <a:spcPts val="2200"/>
              </a:lnSpc>
            </a:pPr>
            <a:r>
              <a:rPr sz="2000" b="0">
                <a:solidFill>
                  <a:srgbClr val="333333"/>
                </a:solidFill>
                <a:latin typeface="Calibri"/>
              </a:rPr>
              <a:t>Mais KL et FM ont besoin d'une partition valide pour démarrer</a:t>
            </a:r>
          </a:p>
          <a:p>
            <a:pPr lvl="0" marL="457200" indent="-228600">
              <a:buFont typeface="Calibri"/>
              <a:spcAft>
                <a:spcPts val="1000"/>
              </a:spcAft>
              <a:buSzPct val="100000"/>
              <a:buChar char="•"/>
              <a:lnSpc>
                <a:spcPts val="2200"/>
              </a:lnSpc>
            </a:pPr>
            <a:r>
              <a:rPr sz="2000" b="0">
                <a:solidFill>
                  <a:srgbClr val="333333"/>
                </a:solidFill>
                <a:latin typeface="Calibri"/>
              </a:rPr>
              <a:t>Pensez à former deux équipes : d'abord deux équipes au hasard, puis des échanges</a:t>
            </a:r>
          </a:p>
          <a:p>
            <a:pPr lvl="0" marL="457200" indent="-228600">
              <a:buFont typeface="Calibri"/>
              <a:spcAft>
                <a:spcPts val="1000"/>
              </a:spcAft>
              <a:buSzPct val="100000"/>
              <a:buChar char="•"/>
              <a:lnSpc>
                <a:spcPts val="2200"/>
              </a:lnSpc>
            </a:pPr>
            <a:r>
              <a:rPr sz="2000" b="0">
                <a:solidFill>
                  <a:srgbClr val="333333"/>
                </a:solidFill>
                <a:latin typeface="Calibri"/>
              </a:rPr>
              <a:t>Un bon premier découpage laisse moins d'échanges à faire</a:t>
            </a:r>
          </a:p>
          <a:p>
            <a:pPr lvl="0" marL="457200" indent="-228600">
              <a:buFont typeface="Calibri"/>
              <a:spcAft>
                <a:spcPts val="1000"/>
              </a:spcAft>
              <a:buSzPct val="100000"/>
              <a:buChar char="•"/>
              <a:lnSpc>
                <a:spcPts val="2200"/>
              </a:lnSpc>
            </a:pPr>
            <a:r>
              <a:rPr sz="2000" b="0">
                <a:solidFill>
                  <a:srgbClr val="333333"/>
                </a:solidFill>
                <a:latin typeface="Calibri"/>
              </a:rPr>
              <a:t>Faites une pause et devinez : le hasard peut-il aussi trouver une coupe de trois ?</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Trois façons de construire une première partition</a:t>
            </a:r>
          </a:p>
        </p:txBody>
      </p:sp>
      <p:pic>
        <p:nvPicPr>
          <p:cNvPr id="3" name="Picture 2" descr="01-empty.png"/>
          <p:cNvPicPr>
            <a:picLocks noChangeAspect="1"/>
          </p:cNvPicPr>
          <p:nvPr/>
        </p:nvPicPr>
        <p:blipFill>
          <a:blip r:embed="rId2"/>
          <a:stretch>
            <a:fillRect/>
          </a:stretch>
        </p:blipFill>
        <p:spPr>
          <a:xfrm>
            <a:off x="548640" y="1143000"/>
            <a:ext cx="9183076"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Trois façons de construire une première partition</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Aléatoire, graine 5 : ABC|DE, coupe 3</a:t>
            </a:r>
          </a:p>
        </p:txBody>
      </p:sp>
      <p:pic>
        <p:nvPicPr>
          <p:cNvPr id="3" name="Picture 2" descr="02-random-lucky.png"/>
          <p:cNvPicPr>
            <a:picLocks noChangeAspect="1"/>
          </p:cNvPicPr>
          <p:nvPr/>
        </p:nvPicPr>
        <p:blipFill>
          <a:blip r:embed="rId2"/>
          <a:stretch>
            <a:fillRect/>
          </a:stretch>
        </p:blipFill>
        <p:spPr>
          <a:xfrm>
            <a:off x="548640" y="1143000"/>
            <a:ext cx="9183076"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Aléatoire, graine 5 : ABC|DE, coupe 3</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Glouton : ABC|DE, coupe 3</a:t>
            </a:r>
          </a:p>
        </p:txBody>
      </p:sp>
      <p:pic>
        <p:nvPicPr>
          <p:cNvPr id="3" name="Picture 2" descr="03-greedy.png"/>
          <p:cNvPicPr>
            <a:picLocks noChangeAspect="1"/>
          </p:cNvPicPr>
          <p:nvPr/>
        </p:nvPicPr>
        <p:blipFill>
          <a:blip r:embed="rId2"/>
          <a:stretch>
            <a:fillRect/>
          </a:stretch>
        </p:blipFill>
        <p:spPr>
          <a:xfrm>
            <a:off x="548640" y="1143000"/>
            <a:ext cx="9183076"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Glouton : ABC|DE, coupe 3</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Croissance depuis D : ABC|DE, coupe 3</a:t>
            </a:r>
          </a:p>
        </p:txBody>
      </p:sp>
      <p:pic>
        <p:nvPicPr>
          <p:cNvPr id="3" name="Picture 2" descr="04-grow-d.png"/>
          <p:cNvPicPr>
            <a:picLocks noChangeAspect="1"/>
          </p:cNvPicPr>
          <p:nvPr/>
        </p:nvPicPr>
        <p:blipFill>
          <a:blip r:embed="rId2"/>
          <a:stretch>
            <a:fillRect/>
          </a:stretch>
        </p:blipFill>
        <p:spPr>
          <a:xfrm>
            <a:off x="548640" y="1143000"/>
            <a:ext cx="9183076"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Croissance depuis D : ABC|DE, coupe 3</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Les trois trouvent une coupe de 3. Coup de chance ?</a:t>
            </a:r>
          </a:p>
        </p:txBody>
      </p:sp>
      <p:pic>
        <p:nvPicPr>
          <p:cNvPr id="3" name="Picture 2" descr="05-takeaway.png"/>
          <p:cNvPicPr>
            <a:picLocks noChangeAspect="1"/>
          </p:cNvPicPr>
          <p:nvPr/>
        </p:nvPicPr>
        <p:blipFill>
          <a:blip r:embed="rId2"/>
          <a:stretch>
            <a:fillRect/>
          </a:stretch>
        </p:blipFill>
        <p:spPr>
          <a:xfrm>
            <a:off x="548640" y="1143000"/>
            <a:ext cx="9183076"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Les trois trouvent une coupe de 3. Coup de chance ?</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Exemple détaillé : une graine malchanceuse</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Un seul mélange malchanceux peut rendre la coupe plus de cinq fois pire</a:t>
            </a:r>
          </a:p>
          <a:p>
            <a:pPr lvl="0" marL="457200" indent="-228600">
              <a:buFont typeface="Calibri"/>
              <a:spcAft>
                <a:spcPts val="1000"/>
              </a:spcAft>
              <a:buSzPct val="100000"/>
              <a:buChar char="•"/>
              <a:lnSpc>
                <a:spcPts val="2200"/>
              </a:lnSpc>
            </a:pPr>
            <a:r>
              <a:rPr sz="2000" b="0">
                <a:solidFill>
                  <a:srgbClr val="333333"/>
                </a:solidFill>
                <a:latin typeface="Calibri"/>
              </a:rPr>
              <a:t>Donc oui, c'était en partie de la chance</a:t>
            </a:r>
          </a:p>
          <a:p>
            <a:pPr lvl="0" marL="457200" indent="-228600">
              <a:buFont typeface="Calibri"/>
              <a:spcAft>
                <a:spcPts val="1000"/>
              </a:spcAft>
              <a:buSzPct val="100000"/>
              <a:buChar char="•"/>
              <a:lnSpc>
                <a:spcPts val="2200"/>
              </a:lnSpc>
            </a:pPr>
            <a:r>
              <a:rPr sz="2000" b="0">
                <a:solidFill>
                  <a:srgbClr val="333333"/>
                </a:solidFill>
                <a:latin typeface="Calibri"/>
              </a:rPr>
              <a:t>Avec la graine trois, B et D tombent d'un côté, et A, C et E de l'autre</a:t>
            </a:r>
          </a:p>
        </p:txBody>
      </p:sp>
      <p:pic>
        <p:nvPicPr>
          <p:cNvPr id="4" name="Picture 3" descr="worked-unlucky-1.png"/>
          <p:cNvPicPr>
            <a:picLocks noChangeAspect="1"/>
          </p:cNvPicPr>
          <p:nvPr/>
        </p:nvPicPr>
        <p:blipFill>
          <a:blip r:embed="rId2"/>
          <a:stretch>
            <a:fillRect/>
          </a:stretch>
        </p:blipFill>
        <p:spPr>
          <a:xfrm>
            <a:off x="6172200" y="1234440"/>
            <a:ext cx="4991147" cy="4754880"/>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Additionner la coupe</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Additionnons la coupe, arête par arête</a:t>
            </a:r>
          </a:p>
          <a:p>
            <a:pPr lvl="0" marL="457200" indent="-228600">
              <a:buFont typeface="Calibri"/>
              <a:spcAft>
                <a:spcPts val="1000"/>
              </a:spcAft>
              <a:buSzPct val="100000"/>
              <a:buChar char="•"/>
              <a:lnSpc>
                <a:spcPts val="2200"/>
              </a:lnSpc>
            </a:pPr>
            <a:r>
              <a:rPr sz="2000" b="0">
                <a:solidFill>
                  <a:srgbClr val="333333"/>
                </a:solidFill>
                <a:latin typeface="Calibri"/>
              </a:rPr>
              <a:t>A–B cinq, B–C quatre, C–D deux, et D–E cinq</a:t>
            </a:r>
          </a:p>
          <a:p>
            <a:pPr lvl="0" marL="457200" indent="-228600">
              <a:buFont typeface="Calibri"/>
              <a:spcAft>
                <a:spcPts val="1000"/>
              </a:spcAft>
              <a:buSzPct val="100000"/>
              <a:buChar char="•"/>
              <a:lnSpc>
                <a:spcPts val="2200"/>
              </a:lnSpc>
            </a:pPr>
            <a:r>
              <a:rPr sz="2000" b="0">
                <a:solidFill>
                  <a:srgbClr val="333333"/>
                </a:solidFill>
                <a:latin typeface="Calibri"/>
              </a:rPr>
              <a:t>Cela fait seize</a:t>
            </a:r>
          </a:p>
        </p:txBody>
      </p:sp>
      <p:pic>
        <p:nvPicPr>
          <p:cNvPr id="4" name="Picture 3" descr="worked-unlucky-2.png"/>
          <p:cNvPicPr>
            <a:picLocks noChangeAspect="1"/>
          </p:cNvPicPr>
          <p:nvPr/>
        </p:nvPicPr>
        <p:blipFill>
          <a:blip r:embed="rId2"/>
          <a:stretch>
            <a:fillRect/>
          </a:stretch>
        </p:blipFill>
        <p:spPr>
          <a:xfrm>
            <a:off x="6172200" y="1234440"/>
            <a:ext cx="4991147" cy="4754880"/>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La pire partition valide</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Les deux arêtes lourdes sont coupées : c'est la pire partition valide qui existe</a:t>
            </a:r>
          </a:p>
          <a:p>
            <a:pPr lvl="0" marL="457200" indent="-228600">
              <a:buFont typeface="Calibri"/>
              <a:spcAft>
                <a:spcPts val="1000"/>
              </a:spcAft>
              <a:buSzPct val="100000"/>
              <a:buChar char="•"/>
              <a:lnSpc>
                <a:spcPts val="2200"/>
              </a:lnSpc>
            </a:pPr>
            <a:r>
              <a:rPr sz="2000" b="0">
                <a:solidFill>
                  <a:srgbClr val="333333"/>
                </a:solidFill>
                <a:latin typeface="Calibri"/>
              </a:rPr>
              <a:t>Sur seize graines, la coupe va de trois à seize</a:t>
            </a:r>
          </a:p>
          <a:p>
            <a:pPr lvl="0" marL="457200" indent="-228600">
              <a:buFont typeface="Calibri"/>
              <a:spcAft>
                <a:spcPts val="1000"/>
              </a:spcAft>
              <a:buSzPct val="100000"/>
              <a:buChar char="•"/>
              <a:lnSpc>
                <a:spcPts val="2200"/>
              </a:lnSpc>
            </a:pPr>
            <a:r>
              <a:rPr sz="2000" b="0">
                <a:solidFill>
                  <a:srgbClr val="333333"/>
                </a:solidFill>
                <a:latin typeface="Calibri"/>
              </a:rPr>
              <a:t>Seules trois de ces graines trouvent la meilleure coupe, trois</a:t>
            </a:r>
          </a:p>
        </p:txBody>
      </p:sp>
      <p:pic>
        <p:nvPicPr>
          <p:cNvPr id="4" name="Picture 3" descr="worked-unlucky.png"/>
          <p:cNvPicPr>
            <a:picLocks noChangeAspect="1"/>
          </p:cNvPicPr>
          <p:nvPr/>
        </p:nvPicPr>
        <p:blipFill>
          <a:blip r:embed="rId2"/>
          <a:stretch>
            <a:fillRect/>
          </a:stretch>
        </p:blipFill>
        <p:spPr>
          <a:xfrm>
            <a:off x="6172200" y="1234440"/>
            <a:ext cx="4991147" cy="4754880"/>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La croissance dépend du nœud de départ</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La croissance n'a pas de hasard, mais elle a un choix : le nœud de départ</a:t>
            </a:r>
          </a:p>
          <a:p>
            <a:pPr lvl="0" marL="457200" indent="-228600">
              <a:buFont typeface="Calibri"/>
              <a:spcAft>
                <a:spcPts val="1000"/>
              </a:spcAft>
              <a:buSzPct val="100000"/>
              <a:buChar char="•"/>
              <a:lnSpc>
                <a:spcPts val="2200"/>
              </a:lnSpc>
            </a:pPr>
            <a:r>
              <a:rPr sz="2000" b="0">
                <a:solidFill>
                  <a:srgbClr val="333333"/>
                </a:solidFill>
                <a:latin typeface="Calibri"/>
              </a:rPr>
              <a:t>Partons de A au lieu de D</a:t>
            </a:r>
          </a:p>
        </p:txBody>
      </p:sp>
      <p:pic>
        <p:nvPicPr>
          <p:cNvPr id="4" name="Picture 3" descr="grow-a-1.png"/>
          <p:cNvPicPr>
            <a:picLocks noChangeAspect="1"/>
          </p:cNvPicPr>
          <p:nvPr/>
        </p:nvPicPr>
        <p:blipFill>
          <a:blip r:embed="rId2"/>
          <a:stretch>
            <a:fillRect/>
          </a:stretch>
        </p:blipFill>
        <p:spPr>
          <a:xfrm>
            <a:off x="6172200" y="1234440"/>
            <a:ext cx="4733871" cy="4754879"/>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Croissance depuis A, étape par étape</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L'arête la plus lourde qui sort de A va vers B, avec un poids de cinq, donc B rejoint A</a:t>
            </a:r>
          </a:p>
          <a:p>
            <a:pPr lvl="0" marL="457200" indent="-228600">
              <a:buFont typeface="Calibri"/>
              <a:spcAft>
                <a:spcPts val="1000"/>
              </a:spcAft>
              <a:buSzPct val="100000"/>
              <a:buChar char="•"/>
              <a:lnSpc>
                <a:spcPts val="2200"/>
              </a:lnSpc>
            </a:pPr>
            <a:r>
              <a:rPr sz="2000" b="0">
                <a:solidFill>
                  <a:srgbClr val="333333"/>
                </a:solidFill>
                <a:latin typeface="Calibri"/>
              </a:rPr>
              <a:t>Avec deux cellules, le côté est plein, et il s'arrête</a:t>
            </a:r>
          </a:p>
        </p:txBody>
      </p:sp>
      <p:pic>
        <p:nvPicPr>
          <p:cNvPr id="4" name="Picture 3" descr="grow-a-2.png"/>
          <p:cNvPicPr>
            <a:picLocks noChangeAspect="1"/>
          </p:cNvPicPr>
          <p:nvPr/>
        </p:nvPicPr>
        <p:blipFill>
          <a:blip r:embed="rId2"/>
          <a:stretch>
            <a:fillRect/>
          </a:stretch>
        </p:blipFill>
        <p:spPr>
          <a:xfrm>
            <a:off x="6172200" y="1234440"/>
            <a:ext cx="4733871" cy="4754879"/>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Croissance depuis A : AB|CDE, coupe 5</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 D et E forment l'autre côté, donc A–C et B–C sont coupées</a:t>
            </a:r>
          </a:p>
          <a:p>
            <a:pPr lvl="0" marL="457200" indent="-228600">
              <a:buFont typeface="Calibri"/>
              <a:spcAft>
                <a:spcPts val="1000"/>
              </a:spcAft>
              <a:buSzPct val="100000"/>
              <a:buChar char="•"/>
              <a:lnSpc>
                <a:spcPts val="2200"/>
              </a:lnSpc>
            </a:pPr>
            <a:r>
              <a:rPr sz="2000" b="0">
                <a:solidFill>
                  <a:srgbClr val="333333"/>
                </a:solidFill>
                <a:latin typeface="Calibri"/>
              </a:rPr>
              <a:t>Un plus quatre font cinq, ce qui est pire que trois</a:t>
            </a:r>
          </a:p>
          <a:p>
            <a:pPr lvl="0" marL="457200" indent="-228600">
              <a:buFont typeface="Calibri"/>
              <a:spcAft>
                <a:spcPts val="1000"/>
              </a:spcAft>
              <a:buSzPct val="100000"/>
              <a:buChar char="•"/>
              <a:lnSpc>
                <a:spcPts val="2200"/>
              </a:lnSpc>
            </a:pPr>
            <a:r>
              <a:rPr sz="2000" b="0">
                <a:solidFill>
                  <a:srgbClr val="333333"/>
                </a:solidFill>
                <a:latin typeface="Calibri"/>
              </a:rPr>
              <a:t>Partir de C est encore pire : une coupe de neuf</a:t>
            </a:r>
          </a:p>
        </p:txBody>
      </p:sp>
      <p:pic>
        <p:nvPicPr>
          <p:cNvPr id="4" name="Picture 3" descr="grow-a.png"/>
          <p:cNvPicPr>
            <a:picLocks noChangeAspect="1"/>
          </p:cNvPicPr>
          <p:nvPr/>
        </p:nvPicPr>
        <p:blipFill>
          <a:blip r:embed="rId2"/>
          <a:stretch>
            <a:fillRect/>
          </a:stretch>
        </p:blipFill>
        <p:spPr>
          <a:xfrm>
            <a:off x="6172200" y="1234440"/>
            <a:ext cx="4733871" cy="4754879"/>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Garder le meilleur départ valide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La solution est simple : essayer plusieurs départs, garder le meilleur</a:t>
            </a:r>
          </a:p>
          <a:p>
            <a:pPr lvl="0" marL="457200" indent="-228600">
              <a:buFont typeface="Calibri"/>
              <a:spcAft>
                <a:spcPts val="1000"/>
              </a:spcAft>
              <a:buSzPct val="100000"/>
              <a:buChar char="•"/>
              <a:lnSpc>
                <a:spcPts val="2200"/>
              </a:lnSpc>
            </a:pPr>
            <a:r>
              <a:rPr sz="2000" b="0">
                <a:solidFill>
                  <a:srgbClr val="333333"/>
                </a:solidFill>
                <a:latin typeface="Calibri"/>
              </a:rPr>
              <a:t>Construisez quelques graines aléatoires, le glouton, et la croissance depuis chaque nœud</a:t>
            </a:r>
          </a:p>
          <a:p>
            <a:pPr lvl="0" marL="457200" indent="-228600">
              <a:buFont typeface="Calibri"/>
              <a:spcAft>
                <a:spcPts val="1000"/>
              </a:spcAft>
              <a:buSzPct val="100000"/>
              <a:buChar char="•"/>
              <a:lnSpc>
                <a:spcPts val="2200"/>
              </a:lnSpc>
            </a:pPr>
            <a:r>
              <a:rPr sz="2000" b="0">
                <a:solidFill>
                  <a:srgbClr val="333333"/>
                </a:solidFill>
                <a:latin typeface="Calibri"/>
              </a:rPr>
              <a:t>Jetez toute partition qui enfreint la règle de taille, puis gardez la plus petite coupe</a:t>
            </a:r>
          </a:p>
          <a:p>
            <a:pPr lvl="0" marL="457200" indent="-228600">
              <a:buFont typeface="Calibri"/>
              <a:spcAft>
                <a:spcPts val="1000"/>
              </a:spcAft>
              <a:buSzPct val="100000"/>
              <a:buChar char="•"/>
              <a:lnSpc>
                <a:spcPts val="2200"/>
              </a:lnSpc>
            </a:pPr>
            <a:r>
              <a:rPr sz="2000" b="0">
                <a:solidFill>
                  <a:srgbClr val="333333"/>
                </a:solidFill>
                <a:latin typeface="Calibri"/>
              </a:rPr>
              <a:t>Ici, le glouton et les cinq croissances donnent trois, cinq, cinq, neuf, trois et trois</a:t>
            </a:r>
          </a:p>
          <a:p>
            <a:pPr lvl="0" marL="457200" indent="-228600">
              <a:buFont typeface="Calibri"/>
              <a:spcAft>
                <a:spcPts val="1000"/>
              </a:spcAft>
              <a:buSzPct val="100000"/>
              <a:buChar char="•"/>
              <a:lnSpc>
                <a:spcPts val="2200"/>
              </a:lnSpc>
            </a:pPr>
            <a:r>
              <a:rPr sz="2000" b="0">
                <a:solidFill>
                  <a:srgbClr val="333333"/>
                </a:solidFill>
                <a:latin typeface="Calibri"/>
              </a:rPr>
              <a:t>Le meilleur est donc trois : A, B et C contre D et E</a:t>
            </a:r>
          </a:p>
          <a:p>
            <a:pPr lvl="0" marL="457200" indent="-228600">
              <a:buFont typeface="Calibri"/>
              <a:spcAft>
                <a:spcPts val="1000"/>
              </a:spcAft>
              <a:buSzPct val="100000"/>
              <a:buChar char="•"/>
              <a:lnSpc>
                <a:spcPts val="2200"/>
              </a:lnSpc>
            </a:pPr>
            <a:r>
              <a:rPr sz="2000" b="0">
                <a:solidFill>
                  <a:srgbClr val="333333"/>
                </a:solidFill>
                <a:latin typeface="Calibri"/>
              </a:rPr>
              <a:t>Faites une pause et devinez : une coupe plus petite peut-elle être le mauvais choix ?</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Garder le meilleur départ valide — à essayer</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best_start(graph):</a:t>
            </a:r>
          </a:p>
          <a:p>
            <a:pPr>
              <a:lnSpc>
                <a:spcPts val="2200"/>
              </a:lnSpc>
              <a:spcAft>
                <a:spcPts val="400"/>
              </a:spcAft>
            </a:pPr>
            <a:r>
              <a:rPr sz="2000" b="0">
                <a:solidFill>
                  <a:srgbClr val="333333"/>
                </a:solidFill>
                <a:latin typeface="Consolas"/>
              </a:rPr>
              <a:t>  starts = random(seed) pour quelques graines</a:t>
            </a:r>
          </a:p>
          <a:p>
            <a:pPr>
              <a:lnSpc>
                <a:spcPts val="2200"/>
              </a:lnSpc>
              <a:spcAft>
                <a:spcPts val="400"/>
              </a:spcAft>
            </a:pPr>
            <a:r>
              <a:rPr sz="2000" b="0">
                <a:solidFill>
                  <a:srgbClr val="333333"/>
                </a:solidFill>
                <a:latin typeface="Consolas"/>
              </a:rPr>
              <a:t>         + greedy</a:t>
            </a:r>
          </a:p>
          <a:p>
            <a:pPr>
              <a:lnSpc>
                <a:spcPts val="2200"/>
              </a:lnSpc>
              <a:spcAft>
                <a:spcPts val="400"/>
              </a:spcAft>
            </a:pPr>
            <a:r>
              <a:rPr sz="2000" b="0">
                <a:solidFill>
                  <a:srgbClr val="333333"/>
                </a:solidFill>
                <a:latin typeface="Consolas"/>
              </a:rPr>
              <a:t>         + grow(x) pour chaque nœud x</a:t>
            </a:r>
          </a:p>
          <a:p>
            <a:pPr>
              <a:lnSpc>
                <a:spcPts val="2200"/>
              </a:lnSpc>
              <a:spcAft>
                <a:spcPts val="400"/>
              </a:spcAft>
            </a:pPr>
            <a:r>
              <a:rPr sz="2000" b="0">
                <a:solidFill>
                  <a:srgbClr val="333333"/>
                </a:solidFill>
                <a:latin typeface="Consolas"/>
              </a:rPr>
              <a:t>  jeter chaque départ qui n'est pas valide</a:t>
            </a:r>
          </a:p>
          <a:p>
            <a:pPr>
              <a:lnSpc>
                <a:spcPts val="2200"/>
              </a:lnSpc>
              <a:spcAft>
                <a:spcPts val="400"/>
              </a:spcAft>
            </a:pPr>
            <a:r>
              <a:rPr sz="2000" b="0">
                <a:solidFill>
                  <a:srgbClr val="333333"/>
                </a:solidFill>
                <a:latin typeface="Consolas"/>
              </a:rPr>
              <a:t>  renvoyer le départ de plus petite taille de coupe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Piège 1 : pas de limite de taille</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Trois pièges peuvent tromper une méthode qui a l'air raisonnable</a:t>
            </a:r>
          </a:p>
          <a:p>
            <a:pPr lvl="0" marL="457200" indent="-228600">
              <a:buFont typeface="Calibri"/>
              <a:spcAft>
                <a:spcPts val="1000"/>
              </a:spcAft>
              <a:buSzPct val="100000"/>
              <a:buChar char="•"/>
              <a:lnSpc>
                <a:spcPts val="2200"/>
              </a:lnSpc>
            </a:pPr>
            <a:r>
              <a:rPr sz="2000" b="0">
                <a:solidFill>
                  <a:srgbClr val="333333"/>
                </a:solidFill>
                <a:latin typeface="Calibri"/>
              </a:rPr>
              <a:t>Et oui, une coupe plus petite peut être le mauvais choix</a:t>
            </a:r>
          </a:p>
          <a:p>
            <a:pPr lvl="0" marL="457200" indent="-228600">
              <a:buFont typeface="Calibri"/>
              <a:spcAft>
                <a:spcPts val="1000"/>
              </a:spcAft>
              <a:buSzPct val="100000"/>
              <a:buChar char="•"/>
              <a:lnSpc>
                <a:spcPts val="2200"/>
              </a:lnSpc>
            </a:pPr>
            <a:r>
              <a:rPr sz="2000" b="0">
                <a:solidFill>
                  <a:srgbClr val="333333"/>
                </a:solidFill>
                <a:latin typeface="Calibri"/>
              </a:rPr>
              <a:t>Voici une étoile : A au milieu, relié à cinq autres cellules</a:t>
            </a:r>
          </a:p>
          <a:p>
            <a:pPr lvl="0" marL="457200" indent="-228600">
              <a:buFont typeface="Calibri"/>
              <a:spcAft>
                <a:spcPts val="1000"/>
              </a:spcAft>
              <a:buSzPct val="100000"/>
              <a:buChar char="•"/>
              <a:lnSpc>
                <a:spcPts val="2200"/>
              </a:lnSpc>
            </a:pPr>
            <a:r>
              <a:rPr sz="2000" b="0">
                <a:solidFill>
                  <a:srgbClr val="333333"/>
                </a:solidFill>
                <a:latin typeface="Calibri"/>
              </a:rPr>
              <a:t>Un ancien glouton sans limite de taille ajoutait toujours des cellules près de A</a:t>
            </a:r>
          </a:p>
          <a:p>
            <a:pPr lvl="0" marL="457200" indent="-228600">
              <a:buFont typeface="Calibri"/>
              <a:spcAft>
                <a:spcPts val="1000"/>
              </a:spcAft>
              <a:buSzPct val="100000"/>
              <a:buChar char="•"/>
              <a:lnSpc>
                <a:spcPts val="2200"/>
              </a:lnSpc>
            </a:pPr>
            <a:r>
              <a:rPr sz="2000" b="0">
                <a:solidFill>
                  <a:srgbClr val="333333"/>
                </a:solidFill>
                <a:latin typeface="Calibri"/>
              </a:rPr>
              <a:t>Il finissait avec cinq cellules contre une, et une coupe de cinq</a:t>
            </a:r>
          </a:p>
        </p:txBody>
      </p:sp>
      <p:pic>
        <p:nvPicPr>
          <p:cNvPr id="4" name="Picture 3" descr="star-cap-1.png"/>
          <p:cNvPicPr>
            <a:picLocks noChangeAspect="1"/>
          </p:cNvPicPr>
          <p:nvPr/>
        </p:nvPicPr>
        <p:blipFill>
          <a:blip r:embed="rId2"/>
          <a:stretch>
            <a:fillRect/>
          </a:stretch>
        </p:blipFill>
        <p:spPr>
          <a:xfrm>
            <a:off x="6172200" y="1234440"/>
            <a:ext cx="3733215" cy="4754879"/>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Piège 1 : la limite de taille règle le problème</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Avec six cellules, il en faut trois par côté, donc cette partition n'est pas valide</a:t>
            </a:r>
          </a:p>
          <a:p>
            <a:pPr lvl="0" marL="457200" indent="-228600">
              <a:buFont typeface="Calibri"/>
              <a:spcAft>
                <a:spcPts val="1000"/>
              </a:spcAft>
              <a:buSzPct val="100000"/>
              <a:buChar char="•"/>
              <a:lnSpc>
                <a:spcPts val="2200"/>
              </a:lnSpc>
            </a:pPr>
            <a:r>
              <a:rPr sz="2000" b="0">
                <a:solidFill>
                  <a:srgbClr val="333333"/>
                </a:solidFill>
                <a:latin typeface="Calibri"/>
              </a:rPr>
              <a:t>Notre glouton arrête chaque côté à trois cellules, et obtient quinze</a:t>
            </a:r>
          </a:p>
          <a:p>
            <a:pPr lvl="0" marL="457200" indent="-228600">
              <a:buFont typeface="Calibri"/>
              <a:spcAft>
                <a:spcPts val="1000"/>
              </a:spcAft>
              <a:buSzPct val="100000"/>
              <a:buChar char="•"/>
              <a:lnSpc>
                <a:spcPts val="2200"/>
              </a:lnSpc>
            </a:pPr>
            <a:r>
              <a:rPr sz="2000" b="0">
                <a:solidFill>
                  <a:srgbClr val="333333"/>
                </a:solidFill>
                <a:latin typeface="Calibri"/>
              </a:rPr>
              <a:t>Aucune partition valide de cette étoile ne fait mieux</a:t>
            </a:r>
          </a:p>
        </p:txBody>
      </p:sp>
      <p:pic>
        <p:nvPicPr>
          <p:cNvPr id="4" name="Picture 3" descr="star-cap.png"/>
          <p:cNvPicPr>
            <a:picLocks noChangeAspect="1"/>
          </p:cNvPicPr>
          <p:nvPr/>
        </p:nvPicPr>
        <p:blipFill>
          <a:blip r:embed="rId2"/>
          <a:stretch>
            <a:fillRect/>
          </a:stretch>
        </p:blipFill>
        <p:spPr>
          <a:xfrm>
            <a:off x="6172200" y="1234440"/>
            <a:ext cx="3733215" cy="4754879"/>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Piège 2 : une égalité peut décider du résultat</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Dans ce graphe, A–B et D–E pèsent cinq toutes les deux</a:t>
            </a:r>
          </a:p>
          <a:p>
            <a:pPr lvl="0" marL="457200" indent="-228600">
              <a:buFont typeface="Calibri"/>
              <a:spcAft>
                <a:spcPts val="1000"/>
              </a:spcAft>
              <a:buSzPct val="100000"/>
              <a:buChar char="•"/>
              <a:lnSpc>
                <a:spcPts val="2200"/>
              </a:lnSpc>
            </a:pPr>
            <a:r>
              <a:rPr sz="2000" b="0">
                <a:solidFill>
                  <a:srgbClr val="333333"/>
                </a:solidFill>
                <a:latin typeface="Calibri"/>
              </a:rPr>
              <a:t>Le glouton doit en choisir une pour démarrer</a:t>
            </a:r>
          </a:p>
          <a:p>
            <a:pPr lvl="0" marL="457200" indent="-228600">
              <a:buFont typeface="Calibri"/>
              <a:spcAft>
                <a:spcPts val="1000"/>
              </a:spcAft>
              <a:buSzPct val="100000"/>
              <a:buChar char="•"/>
              <a:lnSpc>
                <a:spcPts val="2200"/>
              </a:lnSpc>
            </a:pPr>
            <a:r>
              <a:rPr sz="2000" b="0">
                <a:solidFill>
                  <a:srgbClr val="333333"/>
                </a:solidFill>
                <a:latin typeface="Calibri"/>
              </a:rPr>
              <a:t>La règle prend le plus petit nom, A–B, et cela donne une coupe de neuf</a:t>
            </a:r>
          </a:p>
        </p:txBody>
      </p:sp>
      <p:pic>
        <p:nvPicPr>
          <p:cNvPr id="4" name="Picture 3" descr="tie-graph-1.png"/>
          <p:cNvPicPr>
            <a:picLocks noChangeAspect="1"/>
          </p:cNvPicPr>
          <p:nvPr/>
        </p:nvPicPr>
        <p:blipFill>
          <a:blip r:embed="rId2"/>
          <a:stretch>
            <a:fillRect/>
          </a:stretch>
        </p:blipFill>
        <p:spPr>
          <a:xfrm>
            <a:off x="6172200" y="1234440"/>
            <a:ext cx="4007853" cy="4754879"/>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Piège 2 : l'autre ancre</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Démarrer de D–E donne une coupe de quatre</a:t>
            </a:r>
          </a:p>
          <a:p>
            <a:pPr lvl="0" marL="457200" indent="-228600">
              <a:buFont typeface="Calibri"/>
              <a:spcAft>
                <a:spcPts val="1000"/>
              </a:spcAft>
              <a:buSzPct val="100000"/>
              <a:buChar char="•"/>
              <a:lnSpc>
                <a:spcPts val="2200"/>
              </a:lnSpc>
            </a:pPr>
            <a:r>
              <a:rPr sz="2000" b="0">
                <a:solidFill>
                  <a:srgbClr val="333333"/>
                </a:solidFill>
                <a:latin typeface="Calibri"/>
              </a:rPr>
              <a:t>Une simple règle de départage a donc plus que doublé la coupe</a:t>
            </a:r>
          </a:p>
          <a:p>
            <a:pPr lvl="0" marL="457200" indent="-228600">
              <a:buFont typeface="Calibri"/>
              <a:spcAft>
                <a:spcPts val="1000"/>
              </a:spcAft>
              <a:buSzPct val="100000"/>
              <a:buChar char="•"/>
              <a:lnSpc>
                <a:spcPts val="2200"/>
              </a:lnSpc>
            </a:pPr>
            <a:r>
              <a:rPr sz="2000" b="0">
                <a:solidFill>
                  <a:srgbClr val="333333"/>
                </a:solidFill>
                <a:latin typeface="Calibri"/>
              </a:rPr>
              <a:t>La croissance depuis C trouve aussi quatre</a:t>
            </a:r>
          </a:p>
        </p:txBody>
      </p:sp>
      <p:pic>
        <p:nvPicPr>
          <p:cNvPr id="4" name="Picture 3" descr="tie-graph.png"/>
          <p:cNvPicPr>
            <a:picLocks noChangeAspect="1"/>
          </p:cNvPicPr>
          <p:nvPr/>
        </p:nvPicPr>
        <p:blipFill>
          <a:blip r:embed="rId2"/>
          <a:stretch>
            <a:fillRect/>
          </a:stretch>
        </p:blipFill>
        <p:spPr>
          <a:xfrm>
            <a:off x="6172200" y="1234440"/>
            <a:ext cx="4007853" cy="4754879"/>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Piège 3 : le fil le plus lourd n'est pas toujours à l'intérieur</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Voici deux triangles, reliés par un seul pont, C–D, de poids quatre</a:t>
            </a:r>
          </a:p>
          <a:p>
            <a:pPr lvl="0" marL="457200" indent="-228600">
              <a:buFont typeface="Calibri"/>
              <a:spcAft>
                <a:spcPts val="1000"/>
              </a:spcAft>
              <a:buSzPct val="100000"/>
              <a:buChar char="•"/>
              <a:lnSpc>
                <a:spcPts val="2200"/>
              </a:lnSpc>
            </a:pPr>
            <a:r>
              <a:rPr sz="2000" b="0">
                <a:solidFill>
                  <a:srgbClr val="333333"/>
                </a:solidFill>
                <a:latin typeface="Calibri"/>
              </a:rPr>
              <a:t>Chaque arête de triangle pèse trois</a:t>
            </a:r>
          </a:p>
          <a:p>
            <a:pPr lvl="0" marL="457200" indent="-228600">
              <a:buFont typeface="Calibri"/>
              <a:spcAft>
                <a:spcPts val="1000"/>
              </a:spcAft>
              <a:buSzPct val="100000"/>
              <a:buChar char="•"/>
              <a:lnSpc>
                <a:spcPts val="2200"/>
              </a:lnSpc>
            </a:pPr>
            <a:r>
              <a:rPr sz="2000" b="0">
                <a:solidFill>
                  <a:srgbClr val="333333"/>
                </a:solidFill>
                <a:latin typeface="Calibri"/>
              </a:rPr>
              <a:t>Le glouton démarre de l'arête la plus lourde, qui est ici le pont lui-même</a:t>
            </a:r>
          </a:p>
          <a:p>
            <a:pPr lvl="0" marL="457200" indent="-228600">
              <a:buFont typeface="Calibri"/>
              <a:spcAft>
                <a:spcPts val="1000"/>
              </a:spcAft>
              <a:buSzPct val="100000"/>
              <a:buChar char="•"/>
              <a:lnSpc>
                <a:spcPts val="2200"/>
              </a:lnSpc>
            </a:pPr>
            <a:r>
              <a:rPr sz="2000" b="0">
                <a:solidFill>
                  <a:srgbClr val="333333"/>
                </a:solidFill>
                <a:latin typeface="Calibri"/>
              </a:rPr>
              <a:t>C et D commencent donc du même côté, et la coupe finit à douze</a:t>
            </a:r>
          </a:p>
        </p:txBody>
      </p:sp>
      <p:pic>
        <p:nvPicPr>
          <p:cNvPr id="4" name="Picture 3" descr="bridge-graph-1.png"/>
          <p:cNvPicPr>
            <a:picLocks noChangeAspect="1"/>
          </p:cNvPicPr>
          <p:nvPr/>
        </p:nvPicPr>
        <p:blipFill>
          <a:blip r:embed="rId2"/>
          <a:stretch>
            <a:fillRect/>
          </a:stretch>
        </p:blipFill>
        <p:spPr>
          <a:xfrm>
            <a:off x="6172200" y="1234440"/>
            <a:ext cx="4007853" cy="4754879"/>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Piège 3 : la croissance garde les triangles</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La croissance depuis A garde son triangle ensemble, et ne coupe que le pont : quatre</a:t>
            </a:r>
          </a:p>
          <a:p>
            <a:pPr lvl="0" marL="457200" indent="-228600">
              <a:buFont typeface="Calibri"/>
              <a:spcAft>
                <a:spcPts val="1000"/>
              </a:spcAft>
              <a:buSzPct val="100000"/>
              <a:buChar char="•"/>
              <a:lnSpc>
                <a:spcPts val="2200"/>
              </a:lnSpc>
            </a:pPr>
            <a:r>
              <a:rPr sz="2000" b="0">
                <a:solidFill>
                  <a:srgbClr val="333333"/>
                </a:solidFill>
                <a:latin typeface="Calibri"/>
              </a:rPr>
              <a:t>Faites une pause et devinez : la croissance est-elle toujours meilleure que le glouton ?</a:t>
            </a:r>
          </a:p>
        </p:txBody>
      </p:sp>
      <p:pic>
        <p:nvPicPr>
          <p:cNvPr id="4" name="Picture 3" descr="bridge-graph.png"/>
          <p:cNvPicPr>
            <a:picLocks noChangeAspect="1"/>
          </p:cNvPicPr>
          <p:nvPr/>
        </p:nvPicPr>
        <p:blipFill>
          <a:blip r:embed="rId2"/>
          <a:stretch>
            <a:fillRect/>
          </a:stretch>
        </p:blipFill>
        <p:spPr>
          <a:xfrm>
            <a:off x="6172200" y="1234440"/>
            <a:ext cx="4007853" cy="4754879"/>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Parcours lab dans le navigateur</a:t>
            </a:r>
          </a:p>
        </p:txBody>
      </p:sp>
      <p:pic>
        <p:nvPicPr>
          <p:cNvPr id="3" name="Picture 2" descr="lab-starter.png"/>
          <p:cNvPicPr>
            <a:picLocks noChangeAspect="1"/>
          </p:cNvPicPr>
          <p:nvPr/>
        </p:nvPicPr>
        <p:blipFill>
          <a:blip r:embed="rId2"/>
          <a:stretch>
            <a:fillRect/>
          </a:stretch>
        </p:blipFill>
        <p:spPr>
          <a:xfrm>
            <a:off x="548640" y="1143000"/>
            <a:ext cx="5418666" cy="4571999"/>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Lab dans le navigateur, état de départ</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Parcours implémentation</a:t>
            </a:r>
          </a:p>
        </p:txBody>
      </p:sp>
      <p:pic>
        <p:nvPicPr>
          <p:cNvPr id="3" name="Picture 2" descr="real-shell.png"/>
          <p:cNvPicPr>
            <a:picLocks noChangeAspect="1"/>
          </p:cNvPicPr>
          <p:nvPr/>
        </p:nvPicPr>
        <p:blipFill>
          <a:blip r:embed="rId2"/>
          <a:stretch>
            <a:fillRect/>
          </a:stretch>
        </p:blipFill>
        <p:spPr>
          <a:xfrm>
            <a:off x="548640" y="1143000"/>
            <a:ext cx="9160625"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Une vraie session de terminal</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Parcours implémentation — à essayer</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 afficher toutes les bonnes réponses</a:t>
            </a:r>
          </a:p>
          <a:p>
            <a:pPr>
              <a:lnSpc>
                <a:spcPts val="2200"/>
              </a:lnSpc>
              <a:spcAft>
                <a:spcPts val="400"/>
              </a:spcAft>
            </a:pPr>
            <a:r>
              <a:rPr sz="2000" b="0">
                <a:solidFill>
                  <a:srgbClr val="333333"/>
                </a:solidFill>
                <a:latin typeface="Consolas"/>
              </a:rPr>
              <a:t>python3 examples/initial_bipartition_check.py --show</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vérifier vos propres fonctions</a:t>
            </a:r>
          </a:p>
          <a:p>
            <a:pPr>
              <a:lnSpc>
                <a:spcPts val="2200"/>
              </a:lnSpc>
              <a:spcAft>
                <a:spcPts val="400"/>
              </a:spcAft>
            </a:pPr>
            <a:r>
              <a:rPr sz="2000" b="0">
                <a:solidFill>
                  <a:srgbClr val="333333"/>
                </a:solidFill>
                <a:latin typeface="Consolas"/>
              </a:rPr>
              <a:t>python3 examples/initial_bipartition_check.py --impl my_init.py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À retenir</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L'aléatoire est rapide, mais il dépend de la chance</a:t>
            </a:r>
          </a:p>
          <a:p>
            <a:pPr lvl="0" marL="457200" indent="-228600">
              <a:buFont typeface="Calibri"/>
              <a:spcAft>
                <a:spcPts val="1000"/>
              </a:spcAft>
              <a:buSzPct val="100000"/>
              <a:buChar char="•"/>
              <a:lnSpc>
                <a:spcPts val="2200"/>
              </a:lnSpc>
            </a:pPr>
            <a:r>
              <a:rPr sz="2000" b="0">
                <a:solidFill>
                  <a:srgbClr val="333333"/>
                </a:solidFill>
                <a:latin typeface="Calibri"/>
              </a:rPr>
              <a:t>Le glouton garde les arêtes lourdes dedans, mais égalités et ponts le trompent</a:t>
            </a:r>
          </a:p>
          <a:p>
            <a:pPr lvl="0" marL="457200" indent="-228600">
              <a:buFont typeface="Calibri"/>
              <a:spcAft>
                <a:spcPts val="1000"/>
              </a:spcAft>
              <a:buSzPct val="100000"/>
              <a:buChar char="•"/>
              <a:lnSpc>
                <a:spcPts val="2200"/>
              </a:lnSpc>
            </a:pPr>
            <a:r>
              <a:rPr sz="2000" b="0">
                <a:solidFill>
                  <a:srgbClr val="333333"/>
                </a:solidFill>
                <a:latin typeface="Calibri"/>
              </a:rPr>
              <a:t>La croissance dépend de son nœud de départ</a:t>
            </a:r>
          </a:p>
          <a:p>
            <a:pPr lvl="0" marL="457200" indent="-228600">
              <a:buFont typeface="Calibri"/>
              <a:spcAft>
                <a:spcPts val="1000"/>
              </a:spcAft>
              <a:buSzPct val="100000"/>
              <a:buChar char="•"/>
              <a:lnSpc>
                <a:spcPts val="2200"/>
              </a:lnSpc>
            </a:pPr>
            <a:r>
              <a:rPr sz="2000" b="0">
                <a:solidFill>
                  <a:srgbClr val="333333"/>
                </a:solidFill>
                <a:latin typeface="Calibri"/>
              </a:rPr>
              <a:t>Donnez l'équilibre avec chaque coupe, et ne laissez aucun côté dépasser sa limite</a:t>
            </a:r>
          </a:p>
          <a:p>
            <a:pPr lvl="0" marL="457200" indent="-228600">
              <a:buFont typeface="Calibri"/>
              <a:spcAft>
                <a:spcPts val="1000"/>
              </a:spcAft>
              <a:buSzPct val="100000"/>
              <a:buChar char="•"/>
              <a:lnSpc>
                <a:spcPts val="2200"/>
              </a:lnSpc>
            </a:pPr>
            <a:r>
              <a:rPr sz="2000" b="0">
                <a:solidFill>
                  <a:srgbClr val="333333"/>
                </a:solidFill>
                <a:latin typeface="Calibri"/>
              </a:rPr>
              <a:t>Départagez par le nom, pas par l'ordre du fichier d'entrée</a:t>
            </a:r>
          </a:p>
          <a:p>
            <a:pPr lvl="0" marL="457200" indent="-228600">
              <a:buFont typeface="Calibri"/>
              <a:spcAft>
                <a:spcPts val="1000"/>
              </a:spcAft>
              <a:buSzPct val="100000"/>
              <a:buChar char="•"/>
              <a:lnSpc>
                <a:spcPts val="2200"/>
              </a:lnSpc>
            </a:pPr>
            <a:r>
              <a:rPr sz="2000" b="0">
                <a:solidFill>
                  <a:srgbClr val="333333"/>
                </a:solidFill>
                <a:latin typeface="Calibri"/>
              </a:rPr>
              <a:t>Donc : essayer plusieurs départs, garder le meilleur départ valide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À vous de jouer</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Choisissez un parcours : le lab dans le navigateur, Python, ou les deux</a:t>
            </a:r>
          </a:p>
          <a:p>
            <a:pPr lvl="0" marL="457200" indent="-228600">
              <a:buFont typeface="Calibri"/>
              <a:spcAft>
                <a:spcPts val="1000"/>
              </a:spcAft>
              <a:buSzPct val="100000"/>
              <a:buChar char="•"/>
              <a:lnSpc>
                <a:spcPts val="2200"/>
              </a:lnSpc>
            </a:pPr>
            <a:r>
              <a:rPr sz="2000" b="0">
                <a:solidFill>
                  <a:srgbClr val="333333"/>
                </a:solidFill>
                <a:latin typeface="Calibri"/>
              </a:rPr>
              <a:t>Cochez chaque case de la liste de contrôle, puis faites le court quiz</a:t>
            </a:r>
          </a:p>
          <a:p>
            <a:pPr lvl="0" marL="457200" indent="-228600">
              <a:buFont typeface="Calibri"/>
              <a:spcAft>
                <a:spcPts val="1000"/>
              </a:spcAft>
              <a:buSzPct val="100000"/>
              <a:buChar char="•"/>
              <a:lnSpc>
                <a:spcPts val="2200"/>
              </a:lnSpc>
            </a:pPr>
            <a:r>
              <a:rPr sz="2000" b="0">
                <a:solidFill>
                  <a:srgbClr val="333333"/>
                </a:solidFill>
                <a:latin typeface="Calibri"/>
              </a:rPr>
              <a:t>La suite, c'est Kernighan–Lin, qui part de votre partition et l'améliore</a:t>
            </a:r>
          </a:p>
          <a:p>
            <a:pPr lvl="0" marL="457200" indent="-228600">
              <a:buFont typeface="Calibri"/>
              <a:spcAft>
                <a:spcPts val="1000"/>
              </a:spcAft>
              <a:buSzPct val="100000"/>
              <a:buChar char="•"/>
              <a:lnSpc>
                <a:spcPts val="2200"/>
              </a:lnSpc>
            </a:pPr>
            <a:r>
              <a:rPr sz="2000" b="0">
                <a:solidFill>
                  <a:srgbClr val="333333"/>
                </a:solidFill>
                <a:latin typeface="Calibri"/>
              </a:rPr>
              <a:t>Faites une pause et devinez : de combien peut-il réduire la coupe malchanceuse de seize ?</a:t>
            </a:r>
          </a:p>
          <a:p>
            <a:pPr lvl="0" marL="457200" indent="-228600">
              <a:buFont typeface="Calibri"/>
              <a:spcAft>
                <a:spcPts val="1000"/>
              </a:spcAft>
              <a:buSzPct val="100000"/>
              <a:buChar char="•"/>
              <a:lnSpc>
                <a:spcPts val="2200"/>
              </a:lnSpc>
            </a:pPr>
            <a:r>
              <a:rPr sz="2000" b="0">
                <a:solidFill>
                  <a:srgbClr val="333333"/>
                </a:solidFill>
                <a:latin typeface="Calibri"/>
              </a:rPr>
              <a:t>Le lab quatre vous le montrera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