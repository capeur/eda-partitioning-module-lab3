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 computer can improve how a chip is split, it needs a first split. That first split is called the initial bipartition. You will meet three ways to build one: random, greedy and grow. You will see the same small graph get a cut of three, or a cut of sixteen. And you will learn the simple habit that fixes it: try several starts, and keep the best.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chip is made of small building blocks called cells, joined by wires. We draw each cell as a dot, called a node. A line between two nodes is an edge: it means the two cells are wired together. The number on an edge is its weight: how many wires join the pair. Our example has five cells, A to E. The heaviest edges, A–B and D–E, have five wires 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a chip into two sides is called a bipartition. Edges that cross between the two sides are cut, and they are drawn in red. The cutsize adds up their weights: here, two plus one makes three. Putting every cell on one side gives a cut of zero, but that split is useless. So we also check balance: how many cells each side holds. A split is legal when no side holds more than three of the five cells.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Labs four and five teach two famous methods, called KL and FM. They improve a split by moving cells from one side to the other. But they can only improve: they need a legal split to start from. Think of picking two teams for a game. First you need any two teams, then you swap players to make the game fair. A good first split leaves less swapping to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graph again, before any split. It has five cells, so the sides will hold two cells and three cells. Every method reports two numbers: the cutsize and the balance. Let's build a first split in three different 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one is random. Write the five names on cards, shuffle them, and deal two cards to one side. The other three cards go to the other side. A computer shuffles using a number called the seed. The same seed always gives the same shuffle. With seed five, D and E land together. Only C–D and C–E are cut, so the cutsize is three. That is the best split this graph has, found by pure luck.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two is greedy: at each step, it takes what looks best right now. It starts by putting both ends of the heaviest edge on one side. A–B and D–E both weigh five, so a fixed rule picks the smaller name: A–B. D starts the other side: it has no wire to A or B, and it comes before E. C joins A and B, with five wires there against two to D. Last, E joins D, which cuts only the edge of weight one to C. The cutsize is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three is grow. Pick a start node, and grow a side around it, like a drop of ink spreading on paper. At each step, add the node behind the heaviest edge that leaves the side. Start from D. The heaviest edge out of D goes to E, with weight five. Now the side holds two of the five cells, which is enough, so it stops. A, B and C form the other side, and the cutsize is three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all three methods found the same split. But that was partly luck. Other seeds and other start nodes give cuts from three up to sixteen. Each of those splits is legal, so none of them is wrong. That is why we build several starts, and keep the one with the smallest cut.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how bad luck can get. With seed three, the shuffle deals B and D to one side. A, C and E end up on the other side. Let's add up the cut, edge by edge. A–B five, B–C four, C–D two and D–E five: sixteen in total. Both heavy edges are cut, so this is the worst legal split of all. Out of the sixteen seeds we tried, only three give the best cut of three.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has no luck in it, but it has a choice: the start node. Start from A instead of D. The heaviest edge out of A goes to B, with weight five, so B joins A. With two cells, the side is full, and it stops. Now C, D and E form the other side, so A–C and B–C are cut. One plus four makes five, which is worse than three. Starting from C is even worse: a cutsize of nine.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is simple: never trust a single start. Build several: a few random seeds, greedy, and grow from every node. Throw away any split that breaks the size rule. Keep the one with the smallest cut. On our graph, greedy and the five grows give three, five, five, nine, three and three. The best is three: A, B and C against D and 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star: A sits in the middle, wired to every other cell. A–B weighs nine, and the four other edges weigh five. With six cells, each side must hold exactly three. An older greedy had no size limit, so it kept adding cells next to A. It ended with five cells against one: cutsize five, but not legal. Our greedy stops each side at three cells, and gets fifteen. No legal split of this star does better.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graph, A–B and D–E both weigh five again. Greedy must pick one of them to start from. The rule picks the smaller name, A–B, and that gives a cutsize of nine. Starting from D–E instead gives a cutsize of four. So a simple tie rule more than doubled the cut. Grow from C also finds four, which is one more reason to try several starts.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two triangles, joined by one bridge, C–D, with weight four. Every triangle edge weighs three. The natural split puts one triangle on each side, and cuts only the bridge. But greedy starts from the heaviest edge, and here that is the bridge itself. So C and D begin on the same side, and the cut ends up at twelve. Grow from A keeps its triangle together, and cuts only the bridge: four.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you work on the same small graph. You can move cells from one side to the other, and watch the cutsize and the balance change. You can also run random, greedy and grow, and compare their cuts. The challenges check the split you built, not the button you clicked. For example, find the start node that gives the smallest cut.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like programming, write the three methods in Python. The examples file gives the exact rules, including how to break ties. First, run the checker to print every correct answer. Then write your own functions, and run the checker on your file. It also feeds the graph in reverse order, so a missing tie rule shows up as a failure.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out for four common mistakes. Reporting the cutsize without the balance. Letting one side grow past its limit, which makes the cut look better than it really is. Trusting a single random seed: on our graph, the cut ranged from three to sixteen. And breaking ties by the order of the input, so the answer changes when the file changes.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Methods like KL and FM need a legal first split. Random shuffles and deals: it is fast, but it depends on luck. Greedy keeps the heaviest edge inside, then puts each cell where it cuts less. Grow spreads from a start node, so the start node matters. Ties and size limits can change the answer. So build several starts, keep only the legal ones, and pick the smallest cut.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it's your turn. Pick a track: the browser lab, the Python track, or both. Tick each box of the checklist as you go. Then take the short quiz to check the main ideas. Next comes Kernighan–Lin, which starts from your split and makes it better.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Initial bipartition</a:t>
            </a:r>
          </a:p>
          <a:p>
            <a:pPr algn="ctr">
              <a:lnSpc>
                <a:spcPts val="2200"/>
              </a:lnSpc>
              <a:spcBef>
                <a:spcPts val="1400"/>
              </a:spcBef>
            </a:pPr>
            <a:r>
              <a:rPr sz="2600" b="0">
                <a:solidFill>
                  <a:srgbClr val="333333"/>
                </a:solidFill>
                <a:latin typeface="Calibri"/>
              </a:rPr>
              <a:t>Before a computer can improve how a chip is split, it needs a first split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a chip to a graph</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chip is made of small building blocks called cells, joined by wires</a:t>
            </a:r>
          </a:p>
          <a:p>
            <a:pPr lvl="0" marL="457200" indent="-228600">
              <a:buFont typeface="Calibri"/>
              <a:spcAft>
                <a:spcPts val="1000"/>
              </a:spcAft>
              <a:buSzPct val="100000"/>
              <a:buChar char="•"/>
              <a:lnSpc>
                <a:spcPts val="2200"/>
              </a:lnSpc>
            </a:pPr>
            <a:r>
              <a:rPr sz="2000" b="0">
                <a:solidFill>
                  <a:srgbClr val="333333"/>
                </a:solidFill>
                <a:latin typeface="Calibri"/>
              </a:rPr>
              <a:t>We draw each cell as a dot, called a node</a:t>
            </a:r>
          </a:p>
          <a:p>
            <a:pPr lvl="0" marL="457200" indent="-228600">
              <a:buFont typeface="Calibri"/>
              <a:spcAft>
                <a:spcPts val="1000"/>
              </a:spcAft>
              <a:buSzPct val="100000"/>
              <a:buChar char="•"/>
              <a:lnSpc>
                <a:spcPts val="2200"/>
              </a:lnSpc>
            </a:pPr>
            <a:r>
              <a:rPr sz="2000" b="0">
                <a:solidFill>
                  <a:srgbClr val="333333"/>
                </a:solidFill>
                <a:latin typeface="Calibri"/>
              </a:rPr>
              <a:t>A line between two nodes is an edge: it means the two cells are wired together</a:t>
            </a:r>
          </a:p>
          <a:p>
            <a:pPr lvl="0" marL="457200" indent="-228600">
              <a:buFont typeface="Calibri"/>
              <a:spcAft>
                <a:spcPts val="1000"/>
              </a:spcAft>
              <a:buSzPct val="100000"/>
              <a:buChar char="•"/>
              <a:lnSpc>
                <a:spcPts val="2200"/>
              </a:lnSpc>
            </a:pPr>
            <a:r>
              <a:rPr sz="2000" b="0">
                <a:solidFill>
                  <a:srgbClr val="333333"/>
                </a:solidFill>
                <a:latin typeface="Calibri"/>
              </a:rPr>
              <a:t>The number on an edge is its weight: how many wires join the pair</a:t>
            </a:r>
          </a:p>
          <a:p>
            <a:pPr lvl="0" marL="457200" indent="-228600">
              <a:buFont typeface="Calibri"/>
              <a:spcAft>
                <a:spcPts val="1000"/>
              </a:spcAft>
              <a:buSzPct val="100000"/>
              <a:buChar char="•"/>
              <a:lnSpc>
                <a:spcPts val="2200"/>
              </a:lnSpc>
            </a:pPr>
            <a:r>
              <a:rPr sz="2000" b="0">
                <a:solidFill>
                  <a:srgbClr val="333333"/>
                </a:solidFill>
                <a:latin typeface="Calibri"/>
              </a:rPr>
              <a:t>Our example has five cells, A to E</a:t>
            </a:r>
          </a:p>
          <a:p>
            <a:pPr lvl="0" marL="457200" indent="-228600">
              <a:buFont typeface="Calibri"/>
              <a:spcAft>
                <a:spcPts val="1000"/>
              </a:spcAft>
              <a:buSzPct val="100000"/>
              <a:buChar char="•"/>
              <a:lnSpc>
                <a:spcPts val="2200"/>
              </a:lnSpc>
            </a:pPr>
            <a:r>
              <a:rPr sz="2000" b="0">
                <a:solidFill>
                  <a:srgbClr val="333333"/>
                </a:solidFill>
                <a:latin typeface="Calibri"/>
              </a:rPr>
              <a:t>The heaviest edges, A–B and D–E, have five wires each</a:t>
            </a:r>
          </a:p>
        </p:txBody>
      </p:sp>
      <p:pic>
        <p:nvPicPr>
          <p:cNvPr id="4" name="Picture 3" descr="chip-to-graph.png"/>
          <p:cNvPicPr>
            <a:picLocks noChangeAspect="1"/>
          </p:cNvPicPr>
          <p:nvPr/>
        </p:nvPicPr>
        <p:blipFill>
          <a:blip r:embed="rId2"/>
          <a:stretch>
            <a:fillRect/>
          </a:stretch>
        </p:blipFill>
        <p:spPr>
          <a:xfrm>
            <a:off x="6172200" y="1234440"/>
            <a:ext cx="3978092"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numbers: cut and balance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Splitting a chip into two sides is called a bipartition</a:t>
            </a:r>
          </a:p>
          <a:p>
            <a:pPr lvl="0" marL="457200" indent="-228600">
              <a:buFont typeface="Calibri"/>
              <a:spcAft>
                <a:spcPts val="1000"/>
              </a:spcAft>
              <a:buSzPct val="100000"/>
              <a:buChar char="•"/>
              <a:lnSpc>
                <a:spcPts val="2200"/>
              </a:lnSpc>
            </a:pPr>
            <a:r>
              <a:rPr sz="2000" b="0">
                <a:solidFill>
                  <a:srgbClr val="333333"/>
                </a:solidFill>
                <a:latin typeface="Calibri"/>
              </a:rPr>
              <a:t>Edges that cross between the two sides are cut, and they are drawn in red</a:t>
            </a:r>
          </a:p>
          <a:p>
            <a:pPr lvl="0" marL="457200" indent="-228600">
              <a:buFont typeface="Calibri"/>
              <a:spcAft>
                <a:spcPts val="1000"/>
              </a:spcAft>
              <a:buSzPct val="100000"/>
              <a:buChar char="•"/>
              <a:lnSpc>
                <a:spcPts val="2200"/>
              </a:lnSpc>
            </a:pPr>
            <a:r>
              <a:rPr sz="2000" b="0">
                <a:solidFill>
                  <a:srgbClr val="333333"/>
                </a:solidFill>
                <a:latin typeface="Calibri"/>
              </a:rPr>
              <a:t>The cutsize adds up their weights: here, two plus one makes three</a:t>
            </a:r>
          </a:p>
          <a:p>
            <a:pPr lvl="0" marL="457200" indent="-228600">
              <a:buFont typeface="Calibri"/>
              <a:spcAft>
                <a:spcPts val="1000"/>
              </a:spcAft>
              <a:buSzPct val="100000"/>
              <a:buChar char="•"/>
              <a:lnSpc>
                <a:spcPts val="2200"/>
              </a:lnSpc>
            </a:pPr>
            <a:r>
              <a:rPr sz="2000" b="0">
                <a:solidFill>
                  <a:srgbClr val="333333"/>
                </a:solidFill>
                <a:latin typeface="Calibri"/>
              </a:rPr>
              <a:t>Putting every cell on one side gives a cut of zero, but that split is useless</a:t>
            </a:r>
          </a:p>
          <a:p>
            <a:pPr lvl="0" marL="457200" indent="-228600">
              <a:buFont typeface="Calibri"/>
              <a:spcAft>
                <a:spcPts val="1000"/>
              </a:spcAft>
              <a:buSzPct val="100000"/>
              <a:buChar char="•"/>
              <a:lnSpc>
                <a:spcPts val="2200"/>
              </a:lnSpc>
            </a:pPr>
            <a:r>
              <a:rPr sz="2000" b="0">
                <a:solidFill>
                  <a:srgbClr val="333333"/>
                </a:solidFill>
                <a:latin typeface="Calibri"/>
              </a:rPr>
              <a:t>So we also check balance: how many cells each side holds</a:t>
            </a:r>
          </a:p>
          <a:p>
            <a:pPr lvl="0" marL="457200" indent="-228600">
              <a:buFont typeface="Calibri"/>
              <a:spcAft>
                <a:spcPts val="1000"/>
              </a:spcAft>
              <a:buSzPct val="100000"/>
              <a:buChar char="•"/>
              <a:lnSpc>
                <a:spcPts val="2200"/>
              </a:lnSpc>
            </a:pPr>
            <a:r>
              <a:rPr sz="2000" b="0">
                <a:solidFill>
                  <a:srgbClr val="333333"/>
                </a:solidFill>
                <a:latin typeface="Calibri"/>
              </a:rPr>
              <a:t>A split is legal when no side holds more than three of the five cells</a:t>
            </a:r>
          </a:p>
        </p:txBody>
      </p:sp>
      <p:pic>
        <p:nvPicPr>
          <p:cNvPr id="4" name="Picture 3" descr="cut-and-balance.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a starting split?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Labs four and five teach two famous methods, called KL and FM</a:t>
            </a:r>
          </a:p>
          <a:p>
            <a:pPr lvl="0" marL="457200" indent="-228600">
              <a:buFont typeface="Calibri"/>
              <a:spcAft>
                <a:spcPts val="1000"/>
              </a:spcAft>
              <a:buSzPct val="100000"/>
              <a:buChar char="•"/>
              <a:lnSpc>
                <a:spcPts val="2200"/>
              </a:lnSpc>
            </a:pPr>
            <a:r>
              <a:rPr sz="2000" b="0">
                <a:solidFill>
                  <a:srgbClr val="333333"/>
                </a:solidFill>
                <a:latin typeface="Calibri"/>
              </a:rPr>
              <a:t>They improve a split by moving cells from one side to the other</a:t>
            </a:r>
          </a:p>
          <a:p>
            <a:pPr lvl="0" marL="457200" indent="-228600">
              <a:buFont typeface="Calibri"/>
              <a:spcAft>
                <a:spcPts val="1000"/>
              </a:spcAft>
              <a:buSzPct val="100000"/>
              <a:buChar char="•"/>
              <a:lnSpc>
                <a:spcPts val="2200"/>
              </a:lnSpc>
            </a:pPr>
            <a:r>
              <a:rPr sz="2000" b="0">
                <a:solidFill>
                  <a:srgbClr val="333333"/>
                </a:solidFill>
                <a:latin typeface="Calibri"/>
              </a:rPr>
              <a:t>But they can only improve: they need a legal split to start from</a:t>
            </a:r>
          </a:p>
          <a:p>
            <a:pPr lvl="0" marL="457200" indent="-228600">
              <a:buFont typeface="Calibri"/>
              <a:spcAft>
                <a:spcPts val="1000"/>
              </a:spcAft>
              <a:buSzPct val="100000"/>
              <a:buChar char="•"/>
              <a:lnSpc>
                <a:spcPts val="2200"/>
              </a:lnSpc>
            </a:pPr>
            <a:r>
              <a:rPr sz="2000" b="0">
                <a:solidFill>
                  <a:srgbClr val="333333"/>
                </a:solidFill>
                <a:latin typeface="Calibri"/>
              </a:rPr>
              <a:t>Think of picking two teams for a game</a:t>
            </a:r>
          </a:p>
          <a:p>
            <a:pPr lvl="0" marL="457200" indent="-228600">
              <a:buFont typeface="Calibri"/>
              <a:spcAft>
                <a:spcPts val="1000"/>
              </a:spcAft>
              <a:buSzPct val="100000"/>
              <a:buChar char="•"/>
              <a:lnSpc>
                <a:spcPts val="2200"/>
              </a:lnSpc>
            </a:pPr>
            <a:r>
              <a:rPr sz="2000" b="0">
                <a:solidFill>
                  <a:srgbClr val="333333"/>
                </a:solidFill>
                <a:latin typeface="Calibri"/>
              </a:rPr>
              <a:t>First you need any two teams, then you swap players to make the game fair</a:t>
            </a:r>
          </a:p>
          <a:p>
            <a:pPr lvl="0" marL="457200" indent="-228600">
              <a:buFont typeface="Calibri"/>
              <a:spcAft>
                <a:spcPts val="1000"/>
              </a:spcAft>
              <a:buSzPct val="100000"/>
              <a:buChar char="•"/>
              <a:lnSpc>
                <a:spcPts val="2200"/>
              </a:lnSpc>
            </a:pPr>
            <a:r>
              <a:rPr sz="2000" b="0">
                <a:solidFill>
                  <a:srgbClr val="333333"/>
                </a:solidFill>
                <a:latin typeface="Calibri"/>
              </a:rPr>
              <a:t>A good first split leaves less swapping to do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Need a legal starting split</a:t>
            </a:r>
          </a:p>
        </p:txBody>
      </p:sp>
      <p:pic>
        <p:nvPicPr>
          <p:cNvPr id="3" name="Picture 2" descr="01-empt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Need a legal starting split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Random seed 5: lucky ABC|DE cut 3</a:t>
            </a:r>
          </a:p>
        </p:txBody>
      </p:sp>
      <p:pic>
        <p:nvPicPr>
          <p:cNvPr id="3" name="Picture 2" descr="02-random-luck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Random seed 5: lucky ABC|DE cut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Greedy: ABC|DE cut 3</a:t>
            </a:r>
          </a:p>
        </p:txBody>
      </p:sp>
      <p:pic>
        <p:nvPicPr>
          <p:cNvPr id="3" name="Picture 2" descr="03-greed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Greedy: ABC|DE cut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Grow from D: ABC|DE cut 3</a:t>
            </a:r>
          </a:p>
        </p:txBody>
      </p:sp>
      <p:pic>
        <p:nvPicPr>
          <p:cNvPr id="3" name="Picture 2" descr="04-grow-d.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Grow from D: ABC|DE cut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Try several starts, keep the best</a:t>
            </a:r>
          </a:p>
        </p:txBody>
      </p:sp>
      <p:pic>
        <p:nvPicPr>
          <p:cNvPr id="3" name="Picture 2" descr="05-takeawa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Try several starts, keep the best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Worked example: an unlucky seed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Now let's see how bad luck can get</a:t>
            </a:r>
          </a:p>
          <a:p>
            <a:pPr lvl="0" marL="457200" indent="-228600">
              <a:buFont typeface="Calibri"/>
              <a:spcAft>
                <a:spcPts val="1000"/>
              </a:spcAft>
              <a:buSzPct val="100000"/>
              <a:buChar char="•"/>
              <a:lnSpc>
                <a:spcPts val="2200"/>
              </a:lnSpc>
            </a:pPr>
            <a:r>
              <a:rPr sz="2000" b="0">
                <a:solidFill>
                  <a:srgbClr val="333333"/>
                </a:solidFill>
                <a:latin typeface="Calibri"/>
              </a:rPr>
              <a:t>With seed three, the shuffle deals B and D to one side</a:t>
            </a:r>
          </a:p>
          <a:p>
            <a:pPr lvl="0" marL="457200" indent="-228600">
              <a:buFont typeface="Calibri"/>
              <a:spcAft>
                <a:spcPts val="1000"/>
              </a:spcAft>
              <a:buSzPct val="100000"/>
              <a:buChar char="•"/>
              <a:lnSpc>
                <a:spcPts val="2200"/>
              </a:lnSpc>
            </a:pPr>
            <a:r>
              <a:rPr sz="2000" b="0">
                <a:solidFill>
                  <a:srgbClr val="333333"/>
                </a:solidFill>
                <a:latin typeface="Calibri"/>
              </a:rPr>
              <a:t>A, C and E end up on the other side</a:t>
            </a:r>
          </a:p>
          <a:p>
            <a:pPr lvl="0" marL="457200" indent="-228600">
              <a:buFont typeface="Calibri"/>
              <a:spcAft>
                <a:spcPts val="1000"/>
              </a:spcAft>
              <a:buSzPct val="100000"/>
              <a:buChar char="•"/>
              <a:lnSpc>
                <a:spcPts val="2200"/>
              </a:lnSpc>
            </a:pPr>
            <a:r>
              <a:rPr sz="2000" b="0">
                <a:solidFill>
                  <a:srgbClr val="333333"/>
                </a:solidFill>
                <a:latin typeface="Calibri"/>
              </a:rPr>
              <a:t>Let's add up the cut, edge by edge</a:t>
            </a:r>
          </a:p>
          <a:p>
            <a:pPr lvl="0" marL="457200" indent="-228600">
              <a:buFont typeface="Calibri"/>
              <a:spcAft>
                <a:spcPts val="1000"/>
              </a:spcAft>
              <a:buSzPct val="100000"/>
              <a:buChar char="•"/>
              <a:lnSpc>
                <a:spcPts val="2200"/>
              </a:lnSpc>
            </a:pPr>
            <a:r>
              <a:rPr sz="2000" b="0">
                <a:solidFill>
                  <a:srgbClr val="333333"/>
                </a:solidFill>
                <a:latin typeface="Calibri"/>
              </a:rPr>
              <a:t>A–B five, B–C four, C–D two and D–E five: sixteen in total</a:t>
            </a:r>
          </a:p>
          <a:p>
            <a:pPr lvl="0" marL="457200" indent="-228600">
              <a:buFont typeface="Calibri"/>
              <a:spcAft>
                <a:spcPts val="1000"/>
              </a:spcAft>
              <a:buSzPct val="100000"/>
              <a:buChar char="•"/>
              <a:lnSpc>
                <a:spcPts val="2200"/>
              </a:lnSpc>
            </a:pPr>
            <a:r>
              <a:rPr sz="2000" b="0">
                <a:solidFill>
                  <a:srgbClr val="333333"/>
                </a:solidFill>
                <a:latin typeface="Calibri"/>
              </a:rPr>
              <a:t>Both heavy edges are cut, so this is the worst legal split of all</a:t>
            </a:r>
          </a:p>
        </p:txBody>
      </p:sp>
      <p:pic>
        <p:nvPicPr>
          <p:cNvPr id="4" name="Picture 3" descr="worked-unlucky.png"/>
          <p:cNvPicPr>
            <a:picLocks noChangeAspect="1"/>
          </p:cNvPicPr>
          <p:nvPr/>
        </p:nvPicPr>
        <p:blipFill>
          <a:blip r:embed="rId2"/>
          <a:stretch>
            <a:fillRect/>
          </a:stretch>
        </p:blipFill>
        <p:spPr>
          <a:xfrm>
            <a:off x="6172200" y="1234440"/>
            <a:ext cx="5277994"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Grow depends on the start node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Grow has no luck in it, but it has a choice: the start node</a:t>
            </a:r>
          </a:p>
          <a:p>
            <a:pPr lvl="0" marL="457200" indent="-228600">
              <a:buFont typeface="Calibri"/>
              <a:spcAft>
                <a:spcPts val="1000"/>
              </a:spcAft>
              <a:buSzPct val="100000"/>
              <a:buChar char="•"/>
              <a:lnSpc>
                <a:spcPts val="2200"/>
              </a:lnSpc>
            </a:pPr>
            <a:r>
              <a:rPr sz="2000" b="0">
                <a:solidFill>
                  <a:srgbClr val="333333"/>
                </a:solidFill>
                <a:latin typeface="Calibri"/>
              </a:rPr>
              <a:t>Start from A instead of D</a:t>
            </a:r>
          </a:p>
          <a:p>
            <a:pPr lvl="0" marL="457200" indent="-228600">
              <a:buFont typeface="Calibri"/>
              <a:spcAft>
                <a:spcPts val="1000"/>
              </a:spcAft>
              <a:buSzPct val="100000"/>
              <a:buChar char="•"/>
              <a:lnSpc>
                <a:spcPts val="2200"/>
              </a:lnSpc>
            </a:pPr>
            <a:r>
              <a:rPr sz="2000" b="0">
                <a:solidFill>
                  <a:srgbClr val="333333"/>
                </a:solidFill>
                <a:latin typeface="Calibri"/>
              </a:rPr>
              <a:t>The heaviest edge out of A goes to B, with weight five, so B joins A</a:t>
            </a:r>
          </a:p>
          <a:p>
            <a:pPr lvl="0" marL="457200" indent="-228600">
              <a:buFont typeface="Calibri"/>
              <a:spcAft>
                <a:spcPts val="1000"/>
              </a:spcAft>
              <a:buSzPct val="100000"/>
              <a:buChar char="•"/>
              <a:lnSpc>
                <a:spcPts val="2200"/>
              </a:lnSpc>
            </a:pPr>
            <a:r>
              <a:rPr sz="2000" b="0">
                <a:solidFill>
                  <a:srgbClr val="333333"/>
                </a:solidFill>
                <a:latin typeface="Calibri"/>
              </a:rPr>
              <a:t>With two cells, the side is full, and it stops</a:t>
            </a:r>
          </a:p>
          <a:p>
            <a:pPr lvl="0" marL="457200" indent="-228600">
              <a:buFont typeface="Calibri"/>
              <a:spcAft>
                <a:spcPts val="1000"/>
              </a:spcAft>
              <a:buSzPct val="100000"/>
              <a:buChar char="•"/>
              <a:lnSpc>
                <a:spcPts val="2200"/>
              </a:lnSpc>
            </a:pPr>
            <a:r>
              <a:rPr sz="2000" b="0">
                <a:solidFill>
                  <a:srgbClr val="333333"/>
                </a:solidFill>
                <a:latin typeface="Calibri"/>
              </a:rPr>
              <a:t>Now C, D and E form the other side, so A–C and B–C are cut</a:t>
            </a:r>
          </a:p>
          <a:p>
            <a:pPr lvl="0" marL="457200" indent="-228600">
              <a:buFont typeface="Calibri"/>
              <a:spcAft>
                <a:spcPts val="1000"/>
              </a:spcAft>
              <a:buSzPct val="100000"/>
              <a:buChar char="•"/>
              <a:lnSpc>
                <a:spcPts val="2200"/>
              </a:lnSpc>
            </a:pPr>
            <a:r>
              <a:rPr sz="2000" b="0">
                <a:solidFill>
                  <a:srgbClr val="333333"/>
                </a:solidFill>
                <a:latin typeface="Calibri"/>
              </a:rPr>
              <a:t>One plus four makes five, which is worse than three</a:t>
            </a:r>
          </a:p>
        </p:txBody>
      </p:sp>
      <p:pic>
        <p:nvPicPr>
          <p:cNvPr id="4" name="Picture 3" descr="grow-a.png"/>
          <p:cNvPicPr>
            <a:picLocks noChangeAspect="1"/>
          </p:cNvPicPr>
          <p:nvPr/>
        </p:nvPicPr>
        <p:blipFill>
          <a:blip r:embed="rId2"/>
          <a:stretch>
            <a:fillRect/>
          </a:stretch>
        </p:blipFill>
        <p:spPr>
          <a:xfrm>
            <a:off x="6172200" y="1234440"/>
            <a:ext cx="4991147" cy="475488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Keep the best legal start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fix is simple: never trust a single start</a:t>
            </a:r>
          </a:p>
          <a:p>
            <a:pPr lvl="0" marL="457200" indent="-228600">
              <a:buFont typeface="Calibri"/>
              <a:spcAft>
                <a:spcPts val="1000"/>
              </a:spcAft>
              <a:buSzPct val="100000"/>
              <a:buChar char="•"/>
              <a:lnSpc>
                <a:spcPts val="2200"/>
              </a:lnSpc>
            </a:pPr>
            <a:r>
              <a:rPr sz="2000" b="0">
                <a:solidFill>
                  <a:srgbClr val="333333"/>
                </a:solidFill>
                <a:latin typeface="Calibri"/>
              </a:rPr>
              <a:t>Build several: a few random seeds, greedy, and grow from every node</a:t>
            </a:r>
          </a:p>
          <a:p>
            <a:pPr lvl="0" marL="457200" indent="-228600">
              <a:buFont typeface="Calibri"/>
              <a:spcAft>
                <a:spcPts val="1000"/>
              </a:spcAft>
              <a:buSzPct val="100000"/>
              <a:buChar char="•"/>
              <a:lnSpc>
                <a:spcPts val="2200"/>
              </a:lnSpc>
            </a:pPr>
            <a:r>
              <a:rPr sz="2000" b="0">
                <a:solidFill>
                  <a:srgbClr val="333333"/>
                </a:solidFill>
                <a:latin typeface="Calibri"/>
              </a:rPr>
              <a:t>Throw away any split that breaks the size rule</a:t>
            </a:r>
          </a:p>
          <a:p>
            <a:pPr lvl="0" marL="457200" indent="-228600">
              <a:buFont typeface="Calibri"/>
              <a:spcAft>
                <a:spcPts val="1000"/>
              </a:spcAft>
              <a:buSzPct val="100000"/>
              <a:buChar char="•"/>
              <a:lnSpc>
                <a:spcPts val="2200"/>
              </a:lnSpc>
            </a:pPr>
            <a:r>
              <a:rPr sz="2000" b="0">
                <a:solidFill>
                  <a:srgbClr val="333333"/>
                </a:solidFill>
                <a:latin typeface="Calibri"/>
              </a:rPr>
              <a:t>Keep the one with the smallest cut</a:t>
            </a:r>
          </a:p>
          <a:p>
            <a:pPr lvl="0" marL="457200" indent="-228600">
              <a:buFont typeface="Calibri"/>
              <a:spcAft>
                <a:spcPts val="1000"/>
              </a:spcAft>
              <a:buSzPct val="100000"/>
              <a:buChar char="•"/>
              <a:lnSpc>
                <a:spcPts val="2200"/>
              </a:lnSpc>
            </a:pPr>
            <a:r>
              <a:rPr sz="2000" b="0">
                <a:solidFill>
                  <a:srgbClr val="333333"/>
                </a:solidFill>
                <a:latin typeface="Calibri"/>
              </a:rPr>
              <a:t>On our graph, greedy and the five grows give three, five, five, nine, three and three</a:t>
            </a:r>
          </a:p>
          <a:p>
            <a:pPr lvl="0" marL="457200" indent="-228600">
              <a:buFont typeface="Calibri"/>
              <a:spcAft>
                <a:spcPts val="1000"/>
              </a:spcAft>
              <a:buSzPct val="100000"/>
              <a:buChar char="•"/>
              <a:lnSpc>
                <a:spcPts val="2200"/>
              </a:lnSpc>
            </a:pPr>
            <a:r>
              <a:rPr sz="2000" b="0">
                <a:solidFill>
                  <a:srgbClr val="333333"/>
                </a:solidFill>
                <a:latin typeface="Calibri"/>
              </a:rPr>
              <a:t>The best is three: A, B and C against D and 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Keep the best legal start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best_start(graph):</a:t>
            </a:r>
          </a:p>
          <a:p>
            <a:pPr>
              <a:lnSpc>
                <a:spcPts val="2200"/>
              </a:lnSpc>
              <a:spcAft>
                <a:spcPts val="400"/>
              </a:spcAft>
            </a:pPr>
            <a:r>
              <a:rPr sz="2000" b="0">
                <a:solidFill>
                  <a:srgbClr val="333333"/>
                </a:solidFill>
                <a:latin typeface="Consolas"/>
              </a:rPr>
              <a:t>  starts = random(seed) for a few seeds</a:t>
            </a:r>
          </a:p>
          <a:p>
            <a:pPr>
              <a:lnSpc>
                <a:spcPts val="2200"/>
              </a:lnSpc>
              <a:spcAft>
                <a:spcPts val="400"/>
              </a:spcAft>
            </a:pPr>
            <a:r>
              <a:rPr sz="2000" b="0">
                <a:solidFill>
                  <a:srgbClr val="333333"/>
                </a:solidFill>
                <a:latin typeface="Consolas"/>
              </a:rPr>
              <a:t>         + greedy</a:t>
            </a:r>
          </a:p>
          <a:p>
            <a:pPr>
              <a:lnSpc>
                <a:spcPts val="2200"/>
              </a:lnSpc>
              <a:spcAft>
                <a:spcPts val="400"/>
              </a:spcAft>
            </a:pPr>
            <a:r>
              <a:rPr sz="2000" b="0">
                <a:solidFill>
                  <a:srgbClr val="333333"/>
                </a:solidFill>
                <a:latin typeface="Consolas"/>
              </a:rPr>
              <a:t>         + grow(x) for every node x</a:t>
            </a:r>
          </a:p>
          <a:p>
            <a:pPr>
              <a:lnSpc>
                <a:spcPts val="2200"/>
              </a:lnSpc>
              <a:spcAft>
                <a:spcPts val="400"/>
              </a:spcAft>
            </a:pPr>
            <a:r>
              <a:rPr sz="2000" b="0">
                <a:solidFill>
                  <a:srgbClr val="333333"/>
                </a:solidFill>
                <a:latin typeface="Consolas"/>
              </a:rPr>
              <a:t>  drop every start that is not legal</a:t>
            </a:r>
          </a:p>
          <a:p>
            <a:pPr>
              <a:lnSpc>
                <a:spcPts val="2200"/>
              </a:lnSpc>
              <a:spcAft>
                <a:spcPts val="400"/>
              </a:spcAft>
            </a:pPr>
            <a:r>
              <a:rPr sz="2000" b="0">
                <a:solidFill>
                  <a:srgbClr val="333333"/>
                </a:solidFill>
                <a:latin typeface="Consolas"/>
              </a:rPr>
              <a:t>  return the start with the smallest cutsize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size limit keeps the split legal</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a star: A sits in the middle, wired to every other cell</a:t>
            </a:r>
          </a:p>
          <a:p>
            <a:pPr lvl="0" marL="457200" indent="-228600">
              <a:buFont typeface="Calibri"/>
              <a:spcAft>
                <a:spcPts val="1000"/>
              </a:spcAft>
              <a:buSzPct val="100000"/>
              <a:buChar char="•"/>
              <a:lnSpc>
                <a:spcPts val="2200"/>
              </a:lnSpc>
            </a:pPr>
            <a:r>
              <a:rPr sz="2000" b="0">
                <a:solidFill>
                  <a:srgbClr val="333333"/>
                </a:solidFill>
                <a:latin typeface="Calibri"/>
              </a:rPr>
              <a:t>A–B weighs nine, and the four other edges weigh five</a:t>
            </a:r>
          </a:p>
          <a:p>
            <a:pPr lvl="0" marL="457200" indent="-228600">
              <a:buFont typeface="Calibri"/>
              <a:spcAft>
                <a:spcPts val="1000"/>
              </a:spcAft>
              <a:buSzPct val="100000"/>
              <a:buChar char="•"/>
              <a:lnSpc>
                <a:spcPts val="2200"/>
              </a:lnSpc>
            </a:pPr>
            <a:r>
              <a:rPr sz="2000" b="0">
                <a:solidFill>
                  <a:srgbClr val="333333"/>
                </a:solidFill>
                <a:latin typeface="Calibri"/>
              </a:rPr>
              <a:t>With six cells, each side must hold exactly three</a:t>
            </a:r>
          </a:p>
          <a:p>
            <a:pPr lvl="0" marL="457200" indent="-228600">
              <a:buFont typeface="Calibri"/>
              <a:spcAft>
                <a:spcPts val="1000"/>
              </a:spcAft>
              <a:buSzPct val="100000"/>
              <a:buChar char="•"/>
              <a:lnSpc>
                <a:spcPts val="2200"/>
              </a:lnSpc>
            </a:pPr>
            <a:r>
              <a:rPr sz="2000" b="0">
                <a:solidFill>
                  <a:srgbClr val="333333"/>
                </a:solidFill>
                <a:latin typeface="Calibri"/>
              </a:rPr>
              <a:t>An older greedy had no size limit, so it kept adding cells next to A</a:t>
            </a:r>
          </a:p>
          <a:p>
            <a:pPr lvl="0" marL="457200" indent="-228600">
              <a:buFont typeface="Calibri"/>
              <a:spcAft>
                <a:spcPts val="1000"/>
              </a:spcAft>
              <a:buSzPct val="100000"/>
              <a:buChar char="•"/>
              <a:lnSpc>
                <a:spcPts val="2200"/>
              </a:lnSpc>
            </a:pPr>
            <a:r>
              <a:rPr sz="2000" b="0">
                <a:solidFill>
                  <a:srgbClr val="333333"/>
                </a:solidFill>
                <a:latin typeface="Calibri"/>
              </a:rPr>
              <a:t>It ended with five cells against one: cutsize five, but not legal</a:t>
            </a:r>
          </a:p>
          <a:p>
            <a:pPr lvl="0" marL="457200" indent="-228600">
              <a:buFont typeface="Calibri"/>
              <a:spcAft>
                <a:spcPts val="1000"/>
              </a:spcAft>
              <a:buSzPct val="100000"/>
              <a:buChar char="•"/>
              <a:lnSpc>
                <a:spcPts val="2200"/>
              </a:lnSpc>
            </a:pPr>
            <a:r>
              <a:rPr sz="2000" b="0">
                <a:solidFill>
                  <a:srgbClr val="333333"/>
                </a:solidFill>
                <a:latin typeface="Calibri"/>
              </a:rPr>
              <a:t>Our greedy stops each side at three cells, and gets fifteen</a:t>
            </a:r>
          </a:p>
        </p:txBody>
      </p:sp>
      <p:pic>
        <p:nvPicPr>
          <p:cNvPr id="4" name="Picture 3" descr="star-cap.png"/>
          <p:cNvPicPr>
            <a:picLocks noChangeAspect="1"/>
          </p:cNvPicPr>
          <p:nvPr/>
        </p:nvPicPr>
        <p:blipFill>
          <a:blip r:embed="rId2"/>
          <a:stretch>
            <a:fillRect/>
          </a:stretch>
        </p:blipFill>
        <p:spPr>
          <a:xfrm>
            <a:off x="6172200" y="1234440"/>
            <a:ext cx="3733215"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tie can decide the answer</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this graph, A–B and D–E both weigh five again</a:t>
            </a:r>
          </a:p>
          <a:p>
            <a:pPr lvl="0" marL="457200" indent="-228600">
              <a:buFont typeface="Calibri"/>
              <a:spcAft>
                <a:spcPts val="1000"/>
              </a:spcAft>
              <a:buSzPct val="100000"/>
              <a:buChar char="•"/>
              <a:lnSpc>
                <a:spcPts val="2200"/>
              </a:lnSpc>
            </a:pPr>
            <a:r>
              <a:rPr sz="2000" b="0">
                <a:solidFill>
                  <a:srgbClr val="333333"/>
                </a:solidFill>
                <a:latin typeface="Calibri"/>
              </a:rPr>
              <a:t>Greedy must pick one of them to start from</a:t>
            </a:r>
          </a:p>
          <a:p>
            <a:pPr lvl="0" marL="457200" indent="-228600">
              <a:buFont typeface="Calibri"/>
              <a:spcAft>
                <a:spcPts val="1000"/>
              </a:spcAft>
              <a:buSzPct val="100000"/>
              <a:buChar char="•"/>
              <a:lnSpc>
                <a:spcPts val="2200"/>
              </a:lnSpc>
            </a:pPr>
            <a:r>
              <a:rPr sz="2000" b="0">
                <a:solidFill>
                  <a:srgbClr val="333333"/>
                </a:solidFill>
                <a:latin typeface="Calibri"/>
              </a:rPr>
              <a:t>The rule picks the smaller name, A–B, and that gives a cutsize of nine</a:t>
            </a:r>
          </a:p>
          <a:p>
            <a:pPr lvl="0" marL="457200" indent="-228600">
              <a:buFont typeface="Calibri"/>
              <a:spcAft>
                <a:spcPts val="1000"/>
              </a:spcAft>
              <a:buSzPct val="100000"/>
              <a:buChar char="•"/>
              <a:lnSpc>
                <a:spcPts val="2200"/>
              </a:lnSpc>
            </a:pPr>
            <a:r>
              <a:rPr sz="2000" b="0">
                <a:solidFill>
                  <a:srgbClr val="333333"/>
                </a:solidFill>
                <a:latin typeface="Calibri"/>
              </a:rPr>
              <a:t>Starting from D–E instead gives a cutsize of four</a:t>
            </a:r>
          </a:p>
          <a:p>
            <a:pPr lvl="0" marL="457200" indent="-228600">
              <a:buFont typeface="Calibri"/>
              <a:spcAft>
                <a:spcPts val="1000"/>
              </a:spcAft>
              <a:buSzPct val="100000"/>
              <a:buChar char="•"/>
              <a:lnSpc>
                <a:spcPts val="2200"/>
              </a:lnSpc>
            </a:pPr>
            <a:r>
              <a:rPr sz="2000" b="0">
                <a:solidFill>
                  <a:srgbClr val="333333"/>
                </a:solidFill>
                <a:latin typeface="Calibri"/>
              </a:rPr>
              <a:t>So a simple tie rule more than doubled the cut</a:t>
            </a:r>
          </a:p>
          <a:p>
            <a:pPr lvl="0" marL="457200" indent="-228600">
              <a:buFont typeface="Calibri"/>
              <a:spcAft>
                <a:spcPts val="1000"/>
              </a:spcAft>
              <a:buSzPct val="100000"/>
              <a:buChar char="•"/>
              <a:lnSpc>
                <a:spcPts val="2200"/>
              </a:lnSpc>
            </a:pPr>
            <a:r>
              <a:rPr sz="2000" b="0">
                <a:solidFill>
                  <a:srgbClr val="333333"/>
                </a:solidFill>
                <a:latin typeface="Calibri"/>
              </a:rPr>
              <a:t>Grow from C also finds four, which is one more reason to try several starts</a:t>
            </a:r>
          </a:p>
        </p:txBody>
      </p:sp>
      <p:pic>
        <p:nvPicPr>
          <p:cNvPr id="4" name="Picture 3" descr="tie-graph.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heaviest wire is not always inside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are two triangles, joined by one bridge, C–D, with weight four</a:t>
            </a:r>
          </a:p>
          <a:p>
            <a:pPr lvl="0" marL="457200" indent="-228600">
              <a:buFont typeface="Calibri"/>
              <a:spcAft>
                <a:spcPts val="1000"/>
              </a:spcAft>
              <a:buSzPct val="100000"/>
              <a:buChar char="•"/>
              <a:lnSpc>
                <a:spcPts val="2200"/>
              </a:lnSpc>
            </a:pPr>
            <a:r>
              <a:rPr sz="2000" b="0">
                <a:solidFill>
                  <a:srgbClr val="333333"/>
                </a:solidFill>
                <a:latin typeface="Calibri"/>
              </a:rPr>
              <a:t>Every triangle edge weighs three</a:t>
            </a:r>
          </a:p>
          <a:p>
            <a:pPr lvl="0" marL="457200" indent="-228600">
              <a:buFont typeface="Calibri"/>
              <a:spcAft>
                <a:spcPts val="1000"/>
              </a:spcAft>
              <a:buSzPct val="100000"/>
              <a:buChar char="•"/>
              <a:lnSpc>
                <a:spcPts val="2200"/>
              </a:lnSpc>
            </a:pPr>
            <a:r>
              <a:rPr sz="2000" b="0">
                <a:solidFill>
                  <a:srgbClr val="333333"/>
                </a:solidFill>
                <a:latin typeface="Calibri"/>
              </a:rPr>
              <a:t>The natural split puts one triangle on each side, and cuts only the bridge</a:t>
            </a:r>
          </a:p>
          <a:p>
            <a:pPr lvl="0" marL="457200" indent="-228600">
              <a:buFont typeface="Calibri"/>
              <a:spcAft>
                <a:spcPts val="1000"/>
              </a:spcAft>
              <a:buSzPct val="100000"/>
              <a:buChar char="•"/>
              <a:lnSpc>
                <a:spcPts val="2200"/>
              </a:lnSpc>
            </a:pPr>
            <a:r>
              <a:rPr sz="2000" b="0">
                <a:solidFill>
                  <a:srgbClr val="333333"/>
                </a:solidFill>
                <a:latin typeface="Calibri"/>
              </a:rPr>
              <a:t>But greedy starts from the heaviest edge, and here that is the bridge itself</a:t>
            </a:r>
          </a:p>
          <a:p>
            <a:pPr lvl="0" marL="457200" indent="-228600">
              <a:buFont typeface="Calibri"/>
              <a:spcAft>
                <a:spcPts val="1000"/>
              </a:spcAft>
              <a:buSzPct val="100000"/>
              <a:buChar char="•"/>
              <a:lnSpc>
                <a:spcPts val="2200"/>
              </a:lnSpc>
            </a:pPr>
            <a:r>
              <a:rPr sz="2000" b="0">
                <a:solidFill>
                  <a:srgbClr val="333333"/>
                </a:solidFill>
                <a:latin typeface="Calibri"/>
              </a:rPr>
              <a:t>So C and D begin on the same side, and the cut ends up at twelve</a:t>
            </a:r>
          </a:p>
          <a:p>
            <a:pPr lvl="0" marL="457200" indent="-228600">
              <a:buFont typeface="Calibri"/>
              <a:spcAft>
                <a:spcPts val="1000"/>
              </a:spcAft>
              <a:buSzPct val="100000"/>
              <a:buChar char="•"/>
              <a:lnSpc>
                <a:spcPts val="2200"/>
              </a:lnSpc>
            </a:pPr>
            <a:r>
              <a:rPr sz="2000" b="0">
                <a:solidFill>
                  <a:srgbClr val="333333"/>
                </a:solidFill>
                <a:latin typeface="Calibri"/>
              </a:rPr>
              <a:t>Grow from A keeps its triangle together, and cuts only the bridge: four</a:t>
            </a:r>
          </a:p>
        </p:txBody>
      </p:sp>
      <p:pic>
        <p:nvPicPr>
          <p:cNvPr id="4" name="Picture 3" descr="bridge-graph.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5418666"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session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 print every correct answer</a:t>
            </a:r>
          </a:p>
          <a:p>
            <a:pPr>
              <a:lnSpc>
                <a:spcPts val="2200"/>
              </a:lnSpc>
              <a:spcAft>
                <a:spcPts val="400"/>
              </a:spcAft>
            </a:pPr>
            <a:r>
              <a:rPr sz="2000" b="0">
                <a:solidFill>
                  <a:srgbClr val="333333"/>
                </a:solidFill>
                <a:latin typeface="Consolas"/>
              </a:rPr>
              <a:t>python3 examples/initial_bipartition_check.py --show</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check your own functions</a:t>
            </a:r>
          </a:p>
          <a:p>
            <a:pPr>
              <a:lnSpc>
                <a:spcPts val="2200"/>
              </a:lnSpc>
              <a:spcAft>
                <a:spcPts val="400"/>
              </a:spcAft>
            </a:pPr>
            <a:r>
              <a:rPr sz="2000" b="0">
                <a:solidFill>
                  <a:srgbClr val="333333"/>
                </a:solidFill>
                <a:latin typeface="Consolas"/>
              </a:rPr>
              <a:t>python3 examples/initial_bipartition_check.py --impl my_init.py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Watch out for four common mistakes</a:t>
            </a:r>
          </a:p>
          <a:p>
            <a:pPr lvl="0" marL="457200" indent="-228600">
              <a:buFont typeface="Calibri"/>
              <a:spcAft>
                <a:spcPts val="1000"/>
              </a:spcAft>
              <a:buSzPct val="100000"/>
              <a:buChar char="•"/>
              <a:lnSpc>
                <a:spcPts val="2200"/>
              </a:lnSpc>
            </a:pPr>
            <a:r>
              <a:rPr sz="2000" b="0">
                <a:solidFill>
                  <a:srgbClr val="333333"/>
                </a:solidFill>
                <a:latin typeface="Calibri"/>
              </a:rPr>
              <a:t>Reporting the cutsize without the balance</a:t>
            </a:r>
          </a:p>
          <a:p>
            <a:pPr lvl="0" marL="457200" indent="-228600">
              <a:buFont typeface="Calibri"/>
              <a:spcAft>
                <a:spcPts val="1000"/>
              </a:spcAft>
              <a:buSzPct val="100000"/>
              <a:buChar char="•"/>
              <a:lnSpc>
                <a:spcPts val="2200"/>
              </a:lnSpc>
            </a:pPr>
            <a:r>
              <a:rPr sz="2000" b="0">
                <a:solidFill>
                  <a:srgbClr val="333333"/>
                </a:solidFill>
                <a:latin typeface="Calibri"/>
              </a:rPr>
              <a:t>Letting one side grow past its limit, which makes the cut look better than it really is</a:t>
            </a:r>
          </a:p>
          <a:p>
            <a:pPr lvl="0" marL="457200" indent="-228600">
              <a:buFont typeface="Calibri"/>
              <a:spcAft>
                <a:spcPts val="1000"/>
              </a:spcAft>
              <a:buSzPct val="100000"/>
              <a:buChar char="•"/>
              <a:lnSpc>
                <a:spcPts val="2200"/>
              </a:lnSpc>
            </a:pPr>
            <a:r>
              <a:rPr sz="2000" b="0">
                <a:solidFill>
                  <a:srgbClr val="333333"/>
                </a:solidFill>
                <a:latin typeface="Calibri"/>
              </a:rPr>
              <a:t>Trusting a single random seed: on our graph, the cut ranged from three to sixteen</a:t>
            </a:r>
          </a:p>
          <a:p>
            <a:pPr lvl="0" marL="457200" indent="-228600">
              <a:buFont typeface="Calibri"/>
              <a:spcAft>
                <a:spcPts val="1000"/>
              </a:spcAft>
              <a:buSzPct val="100000"/>
              <a:buChar char="•"/>
              <a:lnSpc>
                <a:spcPts val="2200"/>
              </a:lnSpc>
            </a:pPr>
            <a:r>
              <a:rPr sz="2000" b="0">
                <a:solidFill>
                  <a:srgbClr val="333333"/>
                </a:solidFill>
                <a:latin typeface="Calibri"/>
              </a:rPr>
              <a:t>And breaking ties by the order of the input, so the answer changes when the file changes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Recap: three ways to start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Methods like KL and FM need a legal first split</a:t>
            </a:r>
          </a:p>
          <a:p>
            <a:pPr lvl="0" marL="457200" indent="-228600">
              <a:buFont typeface="Calibri"/>
              <a:spcAft>
                <a:spcPts val="1000"/>
              </a:spcAft>
              <a:buSzPct val="100000"/>
              <a:buChar char="•"/>
              <a:lnSpc>
                <a:spcPts val="2200"/>
              </a:lnSpc>
            </a:pPr>
            <a:r>
              <a:rPr sz="2000" b="0">
                <a:solidFill>
                  <a:srgbClr val="333333"/>
                </a:solidFill>
                <a:latin typeface="Calibri"/>
              </a:rPr>
              <a:t>Random shuffles and deals: it is fast, but it depends on luck</a:t>
            </a:r>
          </a:p>
          <a:p>
            <a:pPr lvl="0" marL="457200" indent="-228600">
              <a:buFont typeface="Calibri"/>
              <a:spcAft>
                <a:spcPts val="1000"/>
              </a:spcAft>
              <a:buSzPct val="100000"/>
              <a:buChar char="•"/>
              <a:lnSpc>
                <a:spcPts val="2200"/>
              </a:lnSpc>
            </a:pPr>
            <a:r>
              <a:rPr sz="2000" b="0">
                <a:solidFill>
                  <a:srgbClr val="333333"/>
                </a:solidFill>
                <a:latin typeface="Calibri"/>
              </a:rPr>
              <a:t>Greedy keeps the heaviest edge inside, then puts each cell where it cuts less</a:t>
            </a:r>
          </a:p>
          <a:p>
            <a:pPr lvl="0" marL="457200" indent="-228600">
              <a:buFont typeface="Calibri"/>
              <a:spcAft>
                <a:spcPts val="1000"/>
              </a:spcAft>
              <a:buSzPct val="100000"/>
              <a:buChar char="•"/>
              <a:lnSpc>
                <a:spcPts val="2200"/>
              </a:lnSpc>
            </a:pPr>
            <a:r>
              <a:rPr sz="2000" b="0">
                <a:solidFill>
                  <a:srgbClr val="333333"/>
                </a:solidFill>
                <a:latin typeface="Calibri"/>
              </a:rPr>
              <a:t>Grow spreads from a start node, so the start node matters</a:t>
            </a:r>
          </a:p>
          <a:p>
            <a:pPr lvl="0" marL="457200" indent="-228600">
              <a:buFont typeface="Calibri"/>
              <a:spcAft>
                <a:spcPts val="1000"/>
              </a:spcAft>
              <a:buSzPct val="100000"/>
              <a:buChar char="•"/>
              <a:lnSpc>
                <a:spcPts val="2200"/>
              </a:lnSpc>
            </a:pPr>
            <a:r>
              <a:rPr sz="2000" b="0">
                <a:solidFill>
                  <a:srgbClr val="333333"/>
                </a:solidFill>
                <a:latin typeface="Calibri"/>
              </a:rPr>
              <a:t>Ties and size limits can change the answer</a:t>
            </a:r>
          </a:p>
          <a:p>
            <a:pPr lvl="0" marL="457200" indent="-228600">
              <a:buFont typeface="Calibri"/>
              <a:spcAft>
                <a:spcPts val="1000"/>
              </a:spcAft>
              <a:buSzPct val="100000"/>
              <a:buChar char="•"/>
              <a:lnSpc>
                <a:spcPts val="2200"/>
              </a:lnSpc>
            </a:pPr>
            <a:r>
              <a:rPr sz="2000" b="0">
                <a:solidFill>
                  <a:srgbClr val="333333"/>
                </a:solidFill>
                <a:latin typeface="Calibri"/>
              </a:rPr>
              <a:t>So build several starts, keep only the legal ones, and pick the smallest cut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Now it's your turn</a:t>
            </a:r>
          </a:p>
          <a:p>
            <a:pPr lvl="0" marL="457200" indent="-228600">
              <a:buFont typeface="Calibri"/>
              <a:spcAft>
                <a:spcPts val="1000"/>
              </a:spcAft>
              <a:buSzPct val="100000"/>
              <a:buChar char="•"/>
              <a:lnSpc>
                <a:spcPts val="2200"/>
              </a:lnSpc>
            </a:pPr>
            <a:r>
              <a:rPr sz="2000" b="0">
                <a:solidFill>
                  <a:srgbClr val="333333"/>
                </a:solidFill>
                <a:latin typeface="Calibri"/>
              </a:rPr>
              <a:t>Pick a track: the browser lab, the Python track, or both</a:t>
            </a:r>
          </a:p>
          <a:p>
            <a:pPr lvl="0" marL="457200" indent="-228600">
              <a:buFont typeface="Calibri"/>
              <a:spcAft>
                <a:spcPts val="1000"/>
              </a:spcAft>
              <a:buSzPct val="100000"/>
              <a:buChar char="•"/>
              <a:lnSpc>
                <a:spcPts val="2200"/>
              </a:lnSpc>
            </a:pPr>
            <a:r>
              <a:rPr sz="2000" b="0">
                <a:solidFill>
                  <a:srgbClr val="333333"/>
                </a:solidFill>
                <a:latin typeface="Calibri"/>
              </a:rPr>
              <a:t>Tick each box of the checklist as you go</a:t>
            </a:r>
          </a:p>
          <a:p>
            <a:pPr lvl="0" marL="457200" indent="-228600">
              <a:buFont typeface="Calibri"/>
              <a:spcAft>
                <a:spcPts val="1000"/>
              </a:spcAft>
              <a:buSzPct val="100000"/>
              <a:buChar char="•"/>
              <a:lnSpc>
                <a:spcPts val="2200"/>
              </a:lnSpc>
            </a:pPr>
            <a:r>
              <a:rPr sz="2000" b="0">
                <a:solidFill>
                  <a:srgbClr val="333333"/>
                </a:solidFill>
                <a:latin typeface="Calibri"/>
              </a:rPr>
              <a:t>Then take the short quiz to check the main ideas</a:t>
            </a:r>
          </a:p>
          <a:p>
            <a:pPr lvl="0" marL="457200" indent="-228600">
              <a:buFont typeface="Calibri"/>
              <a:spcAft>
                <a:spcPts val="1000"/>
              </a:spcAft>
              <a:buSzPct val="100000"/>
              <a:buChar char="•"/>
              <a:lnSpc>
                <a:spcPts val="2200"/>
              </a:lnSpc>
            </a:pPr>
            <a:r>
              <a:rPr sz="2000" b="0">
                <a:solidFill>
                  <a:srgbClr val="333333"/>
                </a:solidFill>
                <a:latin typeface="Calibri"/>
              </a:rPr>
              <a:t>Next comes Kernighan–Lin, which starts from your split and makes it better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initial bipartition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