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a computer can improve how a chip is split, it needs a first split, called the initial bipartition. You will meet three ways to build one: random, greedy and grow. On one small graph, they give cuts from three to sixteen. The habit that fixes it: try several starts, keep the best.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chip is made of small building blocks called cells, joined by wires. Our example has five cells, named A to E. Some pairs share many wires, others only one.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draw each cell as a dot, called a node. A line between two nodes is an edge. Its number, the weight, counts the wires between the pair. A–B and D–E are the heaviest, with five wires each.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Splitting the cells into two sides is called a bipartition. Edges that cross between the two sides are cut, and drawn in red. The cutsize adds up their weights: here, two plus one makes three.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Putting every cell on one side gives a cut of zero, but that split is useless. So we also check balance: how many cells each side holds. A split is legal when no side holds more than three of the five.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Labs four and five teach two famous methods, called KL and FM. They improve a split by moving cells from one side to the other. But KL and FM need a legal split to start from. Think of picking two teams: first any two teams, then swaps to make the game fair. A good first split leaves less swapping to do. Pause and guess: could a split made at random be as good as this one, with cut three?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short recipes can build a first split: random, greedy and grow. And yes, a random split can reach cut three, if it is lucky. Every recipe puts two cells on one side, and three on the other.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Recipe one is random. Shuffle the five names like cards, and deal two of them to one side. A number called the seed fixes the shuffle, so the same seed always gives the same split. Seed five deals D and E together. Only C–D and C–E are cut: three.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Recipe two is greedy: at each step, it takes what looks best right now. It keeps the heaviest edge, A–B, inside one side. D, which has no wire to A or B, starts the other side. Each other cell joins the side where it cuts less. The cut is three again.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Recipe three is grow: a side spreads from one start node, like a drop of ink on paper. Start from D. The heaviest edge leaving D goes to E, so E joins. Two cells are enough, so the side stops. A, B and C form the other side: cut three again.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three found cut three. Pause and guess: was that luck?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single unlucky shuffle can make the cut more than five times worse. So yes, it was partly luck. With seed three, B and D land on one side, and A, C and E on the other.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add up the cut, edge by edge. A–B five, B–C four, C–D two, and D–E five. That makes sixteen.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heavy edges are cut, so this is the worst legal split of all. Over sixteen seeds, the cut goes from three to sixteen. Only three of those seeds hit the best cut, three.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Grow has no luck in it, but it has a choice: the start node. Let's start from A instead of 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heaviest edge leaving A goes to B, with weight five, so B joins A. With two cells, the side is full, and it stops.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 D and E form the other side, so A–C and B–C are cut. One plus four makes five, which is worse than three. Starting from C is even worse: a cut of nine.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fix is simple: try several starts, keep the best. Build a few random seeds, greedy, and grow from every node. Drop any split that breaks the size rule, then keep the smallest cut. Here, greedy and the five grows give three, five, five, nine, three and three. So the best is three: A, B and C against D and E. Pause and guess: can a smaller cut ever be the worse choice?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traps can fool a method that looks sensible. And yes, a smaller cut can be the worse choice. Here is a star: A in the middle, wired to five other cells. An older greedy had no size limit, so it kept adding cells next to A. It ended with five cells against one, and a cut of five.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six cells, each side must hold exactly three, so that split is not legal. Our greedy stops each side at three cells, and gets fifteen. No legal split of this star does better.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graph, A–B and D–E both weigh five. Greedy must pick one of them to start from. The rule picks the smaller name, A–B, and that gives a cut of nine.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Starting from D–E instead gives a cut of four. So a tie rule more than doubled the cut. Grow from C also finds four.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two triangles, joined by one bridge, C–D, with weight four. Every triangle edge weighs three. Greedy starts from the heaviest edge, which is the bridge itself. So C and D begin on the same side, and the cut ends at twelve.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Grow from A keeps its triangle together, and cuts only the bridge: four. Pause and guess: is grow always better than greedy?</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you get to build the splits yourself. And no, grow is not always better: on our first graph, greedy found three, and grow from A only five. In the browser lab, you click cells to move them between sides, and watch both numbers change. You can also run random, greedy and grow. The challenges check the split you built, not the button you clicked.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like programming, write the three recipes in Python. The examples file gives the exact rules, ties included. Run the checker once to print every correct answer. Then run it on your own file. It also feeds the graph in reverse order, so a missing tie rule shows up as a failure.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Random is fast, but it depends on luck. Greedy keeps heavy edges inside, but ties and bridges can fool it. Grow depends on its start node. Report the balance with every cut, and never let a side pass its limit. Break ties by name, not by the order of the input file. So try several starts, keep the best legal one.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Pick a track: the browser lab, Python, or both. Tick each box of the checklist, then take the short quiz. Next comes Kernighan–Lin, which starts from your split and makes it better. Pause and guess: how much can it shrink the unlucky cut of sixteen? Lab four will show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Initial bipartition</a:t>
            </a:r>
          </a:p>
          <a:p>
            <a:pPr algn="ctr">
              <a:lnSpc>
                <a:spcPts val="2200"/>
              </a:lnSpc>
              <a:spcBef>
                <a:spcPts val="1400"/>
              </a:spcBef>
            </a:pPr>
            <a:r>
              <a:rPr sz="2600" b="0">
                <a:solidFill>
                  <a:srgbClr val="333333"/>
                </a:solidFill>
                <a:latin typeface="Calibri"/>
              </a:rPr>
              <a:t>Before a computer can improve how a chip is split, it needs a first split, called the initial bipartition</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03 initial bipartition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From a chip to a graph</a:t>
            </a:r>
          </a:p>
        </p:txBody>
      </p:sp>
      <p:sp>
        <p:nvSpPr>
          <p:cNvPr id="3" name="TextBox 2"/>
          <p:cNvSpPr txBox="1"/>
          <p:nvPr/>
        </p:nvSpPr>
        <p:spPr>
          <a:xfrm>
            <a:off x="548640" y="1234440"/>
            <a:ext cx="5303520" cy="475488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A chip is made of small building blocks called cells, joined by wires</a:t>
            </a:r>
          </a:p>
          <a:p>
            <a:pPr lvl="0" marL="457200" indent="-228600">
              <a:buFont typeface="Calibri"/>
              <a:spcAft>
                <a:spcPts val="1000"/>
              </a:spcAft>
              <a:buSzPct val="100000"/>
              <a:buChar char="•"/>
              <a:lnSpc>
                <a:spcPts val="2200"/>
              </a:lnSpc>
            </a:pPr>
            <a:r>
              <a:rPr sz="2000" b="0">
                <a:solidFill>
                  <a:srgbClr val="333333"/>
                </a:solidFill>
                <a:latin typeface="Calibri"/>
              </a:rPr>
              <a:t>Our example has five cells, named A to E</a:t>
            </a:r>
          </a:p>
          <a:p>
            <a:pPr lvl="0" marL="457200" indent="-228600">
              <a:buFont typeface="Calibri"/>
              <a:spcAft>
                <a:spcPts val="1000"/>
              </a:spcAft>
              <a:buSzPct val="100000"/>
              <a:buChar char="•"/>
              <a:lnSpc>
                <a:spcPts val="2200"/>
              </a:lnSpc>
            </a:pPr>
            <a:r>
              <a:rPr sz="2000" b="0">
                <a:solidFill>
                  <a:srgbClr val="333333"/>
                </a:solidFill>
                <a:latin typeface="Calibri"/>
              </a:rPr>
              <a:t>Some pairs share many wires, others only one</a:t>
            </a:r>
          </a:p>
        </p:txBody>
      </p:sp>
      <p:pic>
        <p:nvPicPr>
          <p:cNvPr id="4" name="Picture 3" descr="chip-to-graph-1.png"/>
          <p:cNvPicPr>
            <a:picLocks noChangeAspect="1"/>
          </p:cNvPicPr>
          <p:nvPr/>
        </p:nvPicPr>
        <p:blipFill>
          <a:blip r:embed="rId2"/>
          <a:stretch>
            <a:fillRect/>
          </a:stretch>
        </p:blipFill>
        <p:spPr>
          <a:xfrm>
            <a:off x="6172200" y="1234440"/>
            <a:ext cx="3978092" cy="4754879"/>
          </a:xfrm>
          <a:prstGeom prst="rect">
            <a:avLst/>
          </a:prstGeom>
        </p:spPr>
      </p:pic>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03 initial bipartition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Cells become dots, wires become lines</a:t>
            </a:r>
          </a:p>
        </p:txBody>
      </p:sp>
      <p:sp>
        <p:nvSpPr>
          <p:cNvPr id="3" name="TextBox 2"/>
          <p:cNvSpPr txBox="1"/>
          <p:nvPr/>
        </p:nvSpPr>
        <p:spPr>
          <a:xfrm>
            <a:off x="548640" y="1234440"/>
            <a:ext cx="5303520" cy="475488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We draw each cell as a dot, called a node</a:t>
            </a:r>
          </a:p>
          <a:p>
            <a:pPr lvl="0" marL="457200" indent="-228600">
              <a:buFont typeface="Calibri"/>
              <a:spcAft>
                <a:spcPts val="1000"/>
              </a:spcAft>
              <a:buSzPct val="100000"/>
              <a:buChar char="•"/>
              <a:lnSpc>
                <a:spcPts val="2200"/>
              </a:lnSpc>
            </a:pPr>
            <a:r>
              <a:rPr sz="2000" b="0">
                <a:solidFill>
                  <a:srgbClr val="333333"/>
                </a:solidFill>
                <a:latin typeface="Calibri"/>
              </a:rPr>
              <a:t>A line between two nodes is an edge</a:t>
            </a:r>
          </a:p>
          <a:p>
            <a:pPr lvl="0" marL="457200" indent="-228600">
              <a:buFont typeface="Calibri"/>
              <a:spcAft>
                <a:spcPts val="1000"/>
              </a:spcAft>
              <a:buSzPct val="100000"/>
              <a:buChar char="•"/>
              <a:lnSpc>
                <a:spcPts val="2200"/>
              </a:lnSpc>
            </a:pPr>
            <a:r>
              <a:rPr sz="2000" b="0">
                <a:solidFill>
                  <a:srgbClr val="333333"/>
                </a:solidFill>
                <a:latin typeface="Calibri"/>
              </a:rPr>
              <a:t>Its number, the weight, counts the wires between the pair</a:t>
            </a:r>
          </a:p>
          <a:p>
            <a:pPr lvl="0" marL="457200" indent="-228600">
              <a:buFont typeface="Calibri"/>
              <a:spcAft>
                <a:spcPts val="1000"/>
              </a:spcAft>
              <a:buSzPct val="100000"/>
              <a:buChar char="•"/>
              <a:lnSpc>
                <a:spcPts val="2200"/>
              </a:lnSpc>
            </a:pPr>
            <a:r>
              <a:rPr sz="2000" b="0">
                <a:solidFill>
                  <a:srgbClr val="333333"/>
                </a:solidFill>
                <a:latin typeface="Calibri"/>
              </a:rPr>
              <a:t>A–B and D–E are the heaviest, with five wires each</a:t>
            </a:r>
          </a:p>
        </p:txBody>
      </p:sp>
      <p:pic>
        <p:nvPicPr>
          <p:cNvPr id="4" name="Picture 3" descr="chip-to-graph.png"/>
          <p:cNvPicPr>
            <a:picLocks noChangeAspect="1"/>
          </p:cNvPicPr>
          <p:nvPr/>
        </p:nvPicPr>
        <p:blipFill>
          <a:blip r:embed="rId2"/>
          <a:stretch>
            <a:fillRect/>
          </a:stretch>
        </p:blipFill>
        <p:spPr>
          <a:xfrm>
            <a:off x="6172200" y="1234440"/>
            <a:ext cx="3978092" cy="4754879"/>
          </a:xfrm>
          <a:prstGeom prst="rect">
            <a:avLst/>
          </a:prstGeom>
        </p:spPr>
      </p:pic>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03 initial bipartition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Two numbers: cut and balance</a:t>
            </a:r>
          </a:p>
        </p:txBody>
      </p:sp>
      <p:sp>
        <p:nvSpPr>
          <p:cNvPr id="3" name="TextBox 2"/>
          <p:cNvSpPr txBox="1"/>
          <p:nvPr/>
        </p:nvSpPr>
        <p:spPr>
          <a:xfrm>
            <a:off x="548640" y="1234440"/>
            <a:ext cx="5303520" cy="475488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Splitting the cells into two sides is called a bipartition</a:t>
            </a:r>
          </a:p>
          <a:p>
            <a:pPr lvl="0" marL="457200" indent="-228600">
              <a:buFont typeface="Calibri"/>
              <a:spcAft>
                <a:spcPts val="1000"/>
              </a:spcAft>
              <a:buSzPct val="100000"/>
              <a:buChar char="•"/>
              <a:lnSpc>
                <a:spcPts val="2200"/>
              </a:lnSpc>
            </a:pPr>
            <a:r>
              <a:rPr sz="2000" b="0">
                <a:solidFill>
                  <a:srgbClr val="333333"/>
                </a:solidFill>
                <a:latin typeface="Calibri"/>
              </a:rPr>
              <a:t>Edges that cross between the two sides are cut, and drawn in red</a:t>
            </a:r>
          </a:p>
          <a:p>
            <a:pPr lvl="0" marL="457200" indent="-228600">
              <a:buFont typeface="Calibri"/>
              <a:spcAft>
                <a:spcPts val="1000"/>
              </a:spcAft>
              <a:buSzPct val="100000"/>
              <a:buChar char="•"/>
              <a:lnSpc>
                <a:spcPts val="2200"/>
              </a:lnSpc>
            </a:pPr>
            <a:r>
              <a:rPr sz="2000" b="0">
                <a:solidFill>
                  <a:srgbClr val="333333"/>
                </a:solidFill>
                <a:latin typeface="Calibri"/>
              </a:rPr>
              <a:t>The cutsize adds up their weights: here, two plus one makes three</a:t>
            </a:r>
          </a:p>
        </p:txBody>
      </p:sp>
      <p:pic>
        <p:nvPicPr>
          <p:cNvPr id="4" name="Picture 3" descr="cut-and-balance-1.png"/>
          <p:cNvPicPr>
            <a:picLocks noChangeAspect="1"/>
          </p:cNvPicPr>
          <p:nvPr/>
        </p:nvPicPr>
        <p:blipFill>
          <a:blip r:embed="rId2"/>
          <a:stretch>
            <a:fillRect/>
          </a:stretch>
        </p:blipFill>
        <p:spPr>
          <a:xfrm>
            <a:off x="6172200" y="1234440"/>
            <a:ext cx="4007853" cy="4754879"/>
          </a:xfrm>
          <a:prstGeom prst="rect">
            <a:avLst/>
          </a:prstGeom>
        </p:spPr>
      </p:pic>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03 initial bipartition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Balance: no side too big</a:t>
            </a:r>
          </a:p>
        </p:txBody>
      </p:sp>
      <p:sp>
        <p:nvSpPr>
          <p:cNvPr id="3" name="TextBox 2"/>
          <p:cNvSpPr txBox="1"/>
          <p:nvPr/>
        </p:nvSpPr>
        <p:spPr>
          <a:xfrm>
            <a:off x="548640" y="1234440"/>
            <a:ext cx="5303520" cy="475488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Putting every cell on one side gives a cut of zero, but that split is useless</a:t>
            </a:r>
          </a:p>
          <a:p>
            <a:pPr lvl="0" marL="457200" indent="-228600">
              <a:buFont typeface="Calibri"/>
              <a:spcAft>
                <a:spcPts val="1000"/>
              </a:spcAft>
              <a:buSzPct val="100000"/>
              <a:buChar char="•"/>
              <a:lnSpc>
                <a:spcPts val="2200"/>
              </a:lnSpc>
            </a:pPr>
            <a:r>
              <a:rPr sz="2000" b="0">
                <a:solidFill>
                  <a:srgbClr val="333333"/>
                </a:solidFill>
                <a:latin typeface="Calibri"/>
              </a:rPr>
              <a:t>So we also check balance: how many cells each side holds</a:t>
            </a:r>
          </a:p>
          <a:p>
            <a:pPr lvl="0" marL="457200" indent="-228600">
              <a:buFont typeface="Calibri"/>
              <a:spcAft>
                <a:spcPts val="1000"/>
              </a:spcAft>
              <a:buSzPct val="100000"/>
              <a:buChar char="•"/>
              <a:lnSpc>
                <a:spcPts val="2200"/>
              </a:lnSpc>
            </a:pPr>
            <a:r>
              <a:rPr sz="2000" b="0">
                <a:solidFill>
                  <a:srgbClr val="333333"/>
                </a:solidFill>
                <a:latin typeface="Calibri"/>
              </a:rPr>
              <a:t>A split is legal when no side holds more than three of the five</a:t>
            </a:r>
          </a:p>
        </p:txBody>
      </p:sp>
      <p:pic>
        <p:nvPicPr>
          <p:cNvPr id="4" name="Picture 3" descr="cut-and-balance.png"/>
          <p:cNvPicPr>
            <a:picLocks noChangeAspect="1"/>
          </p:cNvPicPr>
          <p:nvPr/>
        </p:nvPicPr>
        <p:blipFill>
          <a:blip r:embed="rId2"/>
          <a:stretch>
            <a:fillRect/>
          </a:stretch>
        </p:blipFill>
        <p:spPr>
          <a:xfrm>
            <a:off x="6172200" y="1234440"/>
            <a:ext cx="4007853" cy="4754879"/>
          </a:xfrm>
          <a:prstGeom prst="rect">
            <a:avLst/>
          </a:prstGeom>
        </p:spPr>
      </p:pic>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03 initial bipartition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Why a starting split?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Labs four and five teach two famous methods, called KL and FM</a:t>
            </a:r>
          </a:p>
          <a:p>
            <a:pPr lvl="0" marL="457200" indent="-228600">
              <a:buFont typeface="Calibri"/>
              <a:spcAft>
                <a:spcPts val="1000"/>
              </a:spcAft>
              <a:buSzPct val="100000"/>
              <a:buChar char="•"/>
              <a:lnSpc>
                <a:spcPts val="2200"/>
              </a:lnSpc>
            </a:pPr>
            <a:r>
              <a:rPr sz="2000" b="0">
                <a:solidFill>
                  <a:srgbClr val="333333"/>
                </a:solidFill>
                <a:latin typeface="Calibri"/>
              </a:rPr>
              <a:t>They improve a split by moving cells from one side to the other</a:t>
            </a:r>
          </a:p>
          <a:p>
            <a:pPr lvl="0" marL="457200" indent="-228600">
              <a:buFont typeface="Calibri"/>
              <a:spcAft>
                <a:spcPts val="1000"/>
              </a:spcAft>
              <a:buSzPct val="100000"/>
              <a:buChar char="•"/>
              <a:lnSpc>
                <a:spcPts val="2200"/>
              </a:lnSpc>
            </a:pPr>
            <a:r>
              <a:rPr sz="2000" b="0">
                <a:solidFill>
                  <a:srgbClr val="333333"/>
                </a:solidFill>
                <a:latin typeface="Calibri"/>
              </a:rPr>
              <a:t>But KL and FM need a legal split to start from</a:t>
            </a:r>
          </a:p>
          <a:p>
            <a:pPr lvl="0" marL="457200" indent="-228600">
              <a:buFont typeface="Calibri"/>
              <a:spcAft>
                <a:spcPts val="1000"/>
              </a:spcAft>
              <a:buSzPct val="100000"/>
              <a:buChar char="•"/>
              <a:lnSpc>
                <a:spcPts val="2200"/>
              </a:lnSpc>
            </a:pPr>
            <a:r>
              <a:rPr sz="2000" b="0">
                <a:solidFill>
                  <a:srgbClr val="333333"/>
                </a:solidFill>
                <a:latin typeface="Calibri"/>
              </a:rPr>
              <a:t>Think of picking two teams: first any two teams, then swaps to make the game fair</a:t>
            </a:r>
          </a:p>
          <a:p>
            <a:pPr lvl="0" marL="457200" indent="-228600">
              <a:buFont typeface="Calibri"/>
              <a:spcAft>
                <a:spcPts val="1000"/>
              </a:spcAft>
              <a:buSzPct val="100000"/>
              <a:buChar char="•"/>
              <a:lnSpc>
                <a:spcPts val="2200"/>
              </a:lnSpc>
            </a:pPr>
            <a:r>
              <a:rPr sz="2000" b="0">
                <a:solidFill>
                  <a:srgbClr val="333333"/>
                </a:solidFill>
                <a:latin typeface="Calibri"/>
              </a:rPr>
              <a:t>A good first split leaves less swapping to do</a:t>
            </a:r>
          </a:p>
          <a:p>
            <a:pPr lvl="0" marL="457200" indent="-228600">
              <a:buFont typeface="Calibri"/>
              <a:spcAft>
                <a:spcPts val="1000"/>
              </a:spcAft>
              <a:buSzPct val="100000"/>
              <a:buChar char="•"/>
              <a:lnSpc>
                <a:spcPts val="2200"/>
              </a:lnSpc>
            </a:pPr>
            <a:r>
              <a:rPr sz="2000" b="0">
                <a:solidFill>
                  <a:srgbClr val="333333"/>
                </a:solidFill>
                <a:latin typeface="Calibri"/>
              </a:rPr>
              <a:t>Pause and guess: could a split made at random be as good as this one, with cut three?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03 initial bipartition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Three ways to build a first split</a:t>
            </a:r>
          </a:p>
        </p:txBody>
      </p:sp>
      <p:pic>
        <p:nvPicPr>
          <p:cNvPr id="3" name="Picture 2" descr="01-empty.png"/>
          <p:cNvPicPr>
            <a:picLocks noChangeAspect="1"/>
          </p:cNvPicPr>
          <p:nvPr/>
        </p:nvPicPr>
        <p:blipFill>
          <a:blip r:embed="rId2"/>
          <a:stretch>
            <a:fillRect/>
          </a:stretch>
        </p:blipFill>
        <p:spPr>
          <a:xfrm>
            <a:off x="548640" y="1143000"/>
            <a:ext cx="9183076"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Three ways to build a first split</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03 initial bipartition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Random seed 5: lucky ABC|DE cut 3</a:t>
            </a:r>
          </a:p>
        </p:txBody>
      </p:sp>
      <p:pic>
        <p:nvPicPr>
          <p:cNvPr id="3" name="Picture 2" descr="02-random-lucky.png"/>
          <p:cNvPicPr>
            <a:picLocks noChangeAspect="1"/>
          </p:cNvPicPr>
          <p:nvPr/>
        </p:nvPicPr>
        <p:blipFill>
          <a:blip r:embed="rId2"/>
          <a:stretch>
            <a:fillRect/>
          </a:stretch>
        </p:blipFill>
        <p:spPr>
          <a:xfrm>
            <a:off x="548640" y="1143000"/>
            <a:ext cx="9183076"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Random seed 5: lucky ABC|DE cut 3</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03 initial bipartition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Greedy: ABC|DE cut 3</a:t>
            </a:r>
          </a:p>
        </p:txBody>
      </p:sp>
      <p:pic>
        <p:nvPicPr>
          <p:cNvPr id="3" name="Picture 2" descr="03-greedy.png"/>
          <p:cNvPicPr>
            <a:picLocks noChangeAspect="1"/>
          </p:cNvPicPr>
          <p:nvPr/>
        </p:nvPicPr>
        <p:blipFill>
          <a:blip r:embed="rId2"/>
          <a:stretch>
            <a:fillRect/>
          </a:stretch>
        </p:blipFill>
        <p:spPr>
          <a:xfrm>
            <a:off x="548640" y="1143000"/>
            <a:ext cx="9183076"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Greedy: ABC|DE cut 3</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03 initial bipartition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Grow from D: ABC|DE cut 3</a:t>
            </a:r>
          </a:p>
        </p:txBody>
      </p:sp>
      <p:pic>
        <p:nvPicPr>
          <p:cNvPr id="3" name="Picture 2" descr="04-grow-d.png"/>
          <p:cNvPicPr>
            <a:picLocks noChangeAspect="1"/>
          </p:cNvPicPr>
          <p:nvPr/>
        </p:nvPicPr>
        <p:blipFill>
          <a:blip r:embed="rId2"/>
          <a:stretch>
            <a:fillRect/>
          </a:stretch>
        </p:blipFill>
        <p:spPr>
          <a:xfrm>
            <a:off x="548640" y="1143000"/>
            <a:ext cx="9183076"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Grow from D: ABC|DE cut 3</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03 initial bipartition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All three found cut 3. Was that luck?</a:t>
            </a:r>
          </a:p>
        </p:txBody>
      </p:sp>
      <p:pic>
        <p:nvPicPr>
          <p:cNvPr id="3" name="Picture 2" descr="05-takeaway.png"/>
          <p:cNvPicPr>
            <a:picLocks noChangeAspect="1"/>
          </p:cNvPicPr>
          <p:nvPr/>
        </p:nvPicPr>
        <p:blipFill>
          <a:blip r:embed="rId2"/>
          <a:stretch>
            <a:fillRect/>
          </a:stretch>
        </p:blipFill>
        <p:spPr>
          <a:xfrm>
            <a:off x="548640" y="1143000"/>
            <a:ext cx="9183076"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All three found cut 3. Was that luck?</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03 initial bipartition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Worked example: an unlucky seed</a:t>
            </a:r>
          </a:p>
        </p:txBody>
      </p:sp>
      <p:sp>
        <p:nvSpPr>
          <p:cNvPr id="3" name="TextBox 2"/>
          <p:cNvSpPr txBox="1"/>
          <p:nvPr/>
        </p:nvSpPr>
        <p:spPr>
          <a:xfrm>
            <a:off x="548640" y="1234440"/>
            <a:ext cx="5303520" cy="475488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A single unlucky shuffle can make the cut more than five times worse</a:t>
            </a:r>
          </a:p>
          <a:p>
            <a:pPr lvl="0" marL="457200" indent="-228600">
              <a:buFont typeface="Calibri"/>
              <a:spcAft>
                <a:spcPts val="1000"/>
              </a:spcAft>
              <a:buSzPct val="100000"/>
              <a:buChar char="•"/>
              <a:lnSpc>
                <a:spcPts val="2200"/>
              </a:lnSpc>
            </a:pPr>
            <a:r>
              <a:rPr sz="2000" b="0">
                <a:solidFill>
                  <a:srgbClr val="333333"/>
                </a:solidFill>
                <a:latin typeface="Calibri"/>
              </a:rPr>
              <a:t>So yes, it was partly luck</a:t>
            </a:r>
          </a:p>
          <a:p>
            <a:pPr lvl="0" marL="457200" indent="-228600">
              <a:buFont typeface="Calibri"/>
              <a:spcAft>
                <a:spcPts val="1000"/>
              </a:spcAft>
              <a:buSzPct val="100000"/>
              <a:buChar char="•"/>
              <a:lnSpc>
                <a:spcPts val="2200"/>
              </a:lnSpc>
            </a:pPr>
            <a:r>
              <a:rPr sz="2000" b="0">
                <a:solidFill>
                  <a:srgbClr val="333333"/>
                </a:solidFill>
                <a:latin typeface="Calibri"/>
              </a:rPr>
              <a:t>With seed three, B and D land on one side, and A, C and E on the other</a:t>
            </a:r>
          </a:p>
        </p:txBody>
      </p:sp>
      <p:pic>
        <p:nvPicPr>
          <p:cNvPr id="4" name="Picture 3" descr="worked-unlucky-1.png"/>
          <p:cNvPicPr>
            <a:picLocks noChangeAspect="1"/>
          </p:cNvPicPr>
          <p:nvPr/>
        </p:nvPicPr>
        <p:blipFill>
          <a:blip r:embed="rId2"/>
          <a:stretch>
            <a:fillRect/>
          </a:stretch>
        </p:blipFill>
        <p:spPr>
          <a:xfrm>
            <a:off x="6172200" y="1234440"/>
            <a:ext cx="5277994" cy="4754879"/>
          </a:xfrm>
          <a:prstGeom prst="rect">
            <a:avLst/>
          </a:prstGeom>
        </p:spPr>
      </p:pic>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03 initial bipartition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Adding up the cut</a:t>
            </a:r>
          </a:p>
        </p:txBody>
      </p:sp>
      <p:sp>
        <p:nvSpPr>
          <p:cNvPr id="3" name="TextBox 2"/>
          <p:cNvSpPr txBox="1"/>
          <p:nvPr/>
        </p:nvSpPr>
        <p:spPr>
          <a:xfrm>
            <a:off x="548640" y="1234440"/>
            <a:ext cx="5303520" cy="475488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Let's add up the cut, edge by edge</a:t>
            </a:r>
          </a:p>
          <a:p>
            <a:pPr lvl="0" marL="457200" indent="-228600">
              <a:buFont typeface="Calibri"/>
              <a:spcAft>
                <a:spcPts val="1000"/>
              </a:spcAft>
              <a:buSzPct val="100000"/>
              <a:buChar char="•"/>
              <a:lnSpc>
                <a:spcPts val="2200"/>
              </a:lnSpc>
            </a:pPr>
            <a:r>
              <a:rPr sz="2000" b="0">
                <a:solidFill>
                  <a:srgbClr val="333333"/>
                </a:solidFill>
                <a:latin typeface="Calibri"/>
              </a:rPr>
              <a:t>A–B five, B–C four, C–D two, and D–E five</a:t>
            </a:r>
          </a:p>
          <a:p>
            <a:pPr lvl="0" marL="457200" indent="-228600">
              <a:buFont typeface="Calibri"/>
              <a:spcAft>
                <a:spcPts val="1000"/>
              </a:spcAft>
              <a:buSzPct val="100000"/>
              <a:buChar char="•"/>
              <a:lnSpc>
                <a:spcPts val="2200"/>
              </a:lnSpc>
            </a:pPr>
            <a:r>
              <a:rPr sz="2000" b="0">
                <a:solidFill>
                  <a:srgbClr val="333333"/>
                </a:solidFill>
                <a:latin typeface="Calibri"/>
              </a:rPr>
              <a:t>That makes sixteen</a:t>
            </a:r>
          </a:p>
        </p:txBody>
      </p:sp>
      <p:pic>
        <p:nvPicPr>
          <p:cNvPr id="4" name="Picture 3" descr="worked-unlucky-2.png"/>
          <p:cNvPicPr>
            <a:picLocks noChangeAspect="1"/>
          </p:cNvPicPr>
          <p:nvPr/>
        </p:nvPicPr>
        <p:blipFill>
          <a:blip r:embed="rId2"/>
          <a:stretch>
            <a:fillRect/>
          </a:stretch>
        </p:blipFill>
        <p:spPr>
          <a:xfrm>
            <a:off x="6172200" y="1234440"/>
            <a:ext cx="5277994" cy="4754879"/>
          </a:xfrm>
          <a:prstGeom prst="rect">
            <a:avLst/>
          </a:prstGeom>
        </p:spPr>
      </p:pic>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03 initial bipartition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The worst legal split</a:t>
            </a:r>
          </a:p>
        </p:txBody>
      </p:sp>
      <p:sp>
        <p:nvSpPr>
          <p:cNvPr id="3" name="TextBox 2"/>
          <p:cNvSpPr txBox="1"/>
          <p:nvPr/>
        </p:nvSpPr>
        <p:spPr>
          <a:xfrm>
            <a:off x="548640" y="1234440"/>
            <a:ext cx="5303520" cy="475488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Both heavy edges are cut, so this is the worst legal split of all</a:t>
            </a:r>
          </a:p>
          <a:p>
            <a:pPr lvl="0" marL="457200" indent="-228600">
              <a:buFont typeface="Calibri"/>
              <a:spcAft>
                <a:spcPts val="1000"/>
              </a:spcAft>
              <a:buSzPct val="100000"/>
              <a:buChar char="•"/>
              <a:lnSpc>
                <a:spcPts val="2200"/>
              </a:lnSpc>
            </a:pPr>
            <a:r>
              <a:rPr sz="2000" b="0">
                <a:solidFill>
                  <a:srgbClr val="333333"/>
                </a:solidFill>
                <a:latin typeface="Calibri"/>
              </a:rPr>
              <a:t>Over sixteen seeds, the cut goes from three to sixteen</a:t>
            </a:r>
          </a:p>
          <a:p>
            <a:pPr lvl="0" marL="457200" indent="-228600">
              <a:buFont typeface="Calibri"/>
              <a:spcAft>
                <a:spcPts val="1000"/>
              </a:spcAft>
              <a:buSzPct val="100000"/>
              <a:buChar char="•"/>
              <a:lnSpc>
                <a:spcPts val="2200"/>
              </a:lnSpc>
            </a:pPr>
            <a:r>
              <a:rPr sz="2000" b="0">
                <a:solidFill>
                  <a:srgbClr val="333333"/>
                </a:solidFill>
                <a:latin typeface="Calibri"/>
              </a:rPr>
              <a:t>Only three of those seeds hit the best cut, three</a:t>
            </a:r>
          </a:p>
        </p:txBody>
      </p:sp>
      <p:pic>
        <p:nvPicPr>
          <p:cNvPr id="4" name="Picture 3" descr="worked-unlucky.png"/>
          <p:cNvPicPr>
            <a:picLocks noChangeAspect="1"/>
          </p:cNvPicPr>
          <p:nvPr/>
        </p:nvPicPr>
        <p:blipFill>
          <a:blip r:embed="rId2"/>
          <a:stretch>
            <a:fillRect/>
          </a:stretch>
        </p:blipFill>
        <p:spPr>
          <a:xfrm>
            <a:off x="6172200" y="1234440"/>
            <a:ext cx="5277994" cy="4754879"/>
          </a:xfrm>
          <a:prstGeom prst="rect">
            <a:avLst/>
          </a:prstGeom>
        </p:spPr>
      </p:pic>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03 initial bipartition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Grow depends on the start node</a:t>
            </a:r>
          </a:p>
        </p:txBody>
      </p:sp>
      <p:sp>
        <p:nvSpPr>
          <p:cNvPr id="3" name="TextBox 2"/>
          <p:cNvSpPr txBox="1"/>
          <p:nvPr/>
        </p:nvSpPr>
        <p:spPr>
          <a:xfrm>
            <a:off x="548640" y="1234440"/>
            <a:ext cx="5303520" cy="475488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Grow has no luck in it, but it has a choice: the start node</a:t>
            </a:r>
          </a:p>
          <a:p>
            <a:pPr lvl="0" marL="457200" indent="-228600">
              <a:buFont typeface="Calibri"/>
              <a:spcAft>
                <a:spcPts val="1000"/>
              </a:spcAft>
              <a:buSzPct val="100000"/>
              <a:buChar char="•"/>
              <a:lnSpc>
                <a:spcPts val="2200"/>
              </a:lnSpc>
            </a:pPr>
            <a:r>
              <a:rPr sz="2000" b="0">
                <a:solidFill>
                  <a:srgbClr val="333333"/>
                </a:solidFill>
                <a:latin typeface="Calibri"/>
              </a:rPr>
              <a:t>Let's start from A instead of D</a:t>
            </a:r>
          </a:p>
        </p:txBody>
      </p:sp>
      <p:pic>
        <p:nvPicPr>
          <p:cNvPr id="4" name="Picture 3" descr="grow-a-1.png"/>
          <p:cNvPicPr>
            <a:picLocks noChangeAspect="1"/>
          </p:cNvPicPr>
          <p:nvPr/>
        </p:nvPicPr>
        <p:blipFill>
          <a:blip r:embed="rId2"/>
          <a:stretch>
            <a:fillRect/>
          </a:stretch>
        </p:blipFill>
        <p:spPr>
          <a:xfrm>
            <a:off x="6172200" y="1234440"/>
            <a:ext cx="4991147" cy="4754880"/>
          </a:xfrm>
          <a:prstGeom prst="rect">
            <a:avLst/>
          </a:prstGeom>
        </p:spPr>
      </p:pic>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03 initial bipartition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Grow from A, step by step</a:t>
            </a:r>
          </a:p>
        </p:txBody>
      </p:sp>
      <p:sp>
        <p:nvSpPr>
          <p:cNvPr id="3" name="TextBox 2"/>
          <p:cNvSpPr txBox="1"/>
          <p:nvPr/>
        </p:nvSpPr>
        <p:spPr>
          <a:xfrm>
            <a:off x="548640" y="1234440"/>
            <a:ext cx="5303520" cy="475488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The heaviest edge leaving A goes to B, with weight five, so B joins A</a:t>
            </a:r>
          </a:p>
          <a:p>
            <a:pPr lvl="0" marL="457200" indent="-228600">
              <a:buFont typeface="Calibri"/>
              <a:spcAft>
                <a:spcPts val="1000"/>
              </a:spcAft>
              <a:buSzPct val="100000"/>
              <a:buChar char="•"/>
              <a:lnSpc>
                <a:spcPts val="2200"/>
              </a:lnSpc>
            </a:pPr>
            <a:r>
              <a:rPr sz="2000" b="0">
                <a:solidFill>
                  <a:srgbClr val="333333"/>
                </a:solidFill>
                <a:latin typeface="Calibri"/>
              </a:rPr>
              <a:t>With two cells, the side is full, and it stops</a:t>
            </a:r>
          </a:p>
        </p:txBody>
      </p:sp>
      <p:pic>
        <p:nvPicPr>
          <p:cNvPr id="4" name="Picture 3" descr="grow-a-2.png"/>
          <p:cNvPicPr>
            <a:picLocks noChangeAspect="1"/>
          </p:cNvPicPr>
          <p:nvPr/>
        </p:nvPicPr>
        <p:blipFill>
          <a:blip r:embed="rId2"/>
          <a:stretch>
            <a:fillRect/>
          </a:stretch>
        </p:blipFill>
        <p:spPr>
          <a:xfrm>
            <a:off x="6172200" y="1234440"/>
            <a:ext cx="4991147" cy="4754880"/>
          </a:xfrm>
          <a:prstGeom prst="rect">
            <a:avLst/>
          </a:prstGeom>
        </p:spPr>
      </p:pic>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03 initial bipartition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Grow from A: AB|CDE cut 5</a:t>
            </a:r>
          </a:p>
        </p:txBody>
      </p:sp>
      <p:sp>
        <p:nvSpPr>
          <p:cNvPr id="3" name="TextBox 2"/>
          <p:cNvSpPr txBox="1"/>
          <p:nvPr/>
        </p:nvSpPr>
        <p:spPr>
          <a:xfrm>
            <a:off x="548640" y="1234440"/>
            <a:ext cx="5303520" cy="475488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 D and E form the other side, so A–C and B–C are cut</a:t>
            </a:r>
          </a:p>
          <a:p>
            <a:pPr lvl="0" marL="457200" indent="-228600">
              <a:buFont typeface="Calibri"/>
              <a:spcAft>
                <a:spcPts val="1000"/>
              </a:spcAft>
              <a:buSzPct val="100000"/>
              <a:buChar char="•"/>
              <a:lnSpc>
                <a:spcPts val="2200"/>
              </a:lnSpc>
            </a:pPr>
            <a:r>
              <a:rPr sz="2000" b="0">
                <a:solidFill>
                  <a:srgbClr val="333333"/>
                </a:solidFill>
                <a:latin typeface="Calibri"/>
              </a:rPr>
              <a:t>One plus four makes five, which is worse than three</a:t>
            </a:r>
          </a:p>
          <a:p>
            <a:pPr lvl="0" marL="457200" indent="-228600">
              <a:buFont typeface="Calibri"/>
              <a:spcAft>
                <a:spcPts val="1000"/>
              </a:spcAft>
              <a:buSzPct val="100000"/>
              <a:buChar char="•"/>
              <a:lnSpc>
                <a:spcPts val="2200"/>
              </a:lnSpc>
            </a:pPr>
            <a:r>
              <a:rPr sz="2000" b="0">
                <a:solidFill>
                  <a:srgbClr val="333333"/>
                </a:solidFill>
                <a:latin typeface="Calibri"/>
              </a:rPr>
              <a:t>Starting from C is even worse: a cut of nine</a:t>
            </a:r>
          </a:p>
        </p:txBody>
      </p:sp>
      <p:pic>
        <p:nvPicPr>
          <p:cNvPr id="4" name="Picture 3" descr="grow-a.png"/>
          <p:cNvPicPr>
            <a:picLocks noChangeAspect="1"/>
          </p:cNvPicPr>
          <p:nvPr/>
        </p:nvPicPr>
        <p:blipFill>
          <a:blip r:embed="rId2"/>
          <a:stretch>
            <a:fillRect/>
          </a:stretch>
        </p:blipFill>
        <p:spPr>
          <a:xfrm>
            <a:off x="6172200" y="1234440"/>
            <a:ext cx="4991147" cy="4754880"/>
          </a:xfrm>
          <a:prstGeom prst="rect">
            <a:avLst/>
          </a:prstGeom>
        </p:spPr>
      </p:pic>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03 initial bipartition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Keep the best legal start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The fix is simple: try several starts, keep the best</a:t>
            </a:r>
          </a:p>
          <a:p>
            <a:pPr lvl="0" marL="457200" indent="-228600">
              <a:buFont typeface="Calibri"/>
              <a:spcAft>
                <a:spcPts val="1000"/>
              </a:spcAft>
              <a:buSzPct val="100000"/>
              <a:buChar char="•"/>
              <a:lnSpc>
                <a:spcPts val="2200"/>
              </a:lnSpc>
            </a:pPr>
            <a:r>
              <a:rPr sz="2000" b="0">
                <a:solidFill>
                  <a:srgbClr val="333333"/>
                </a:solidFill>
                <a:latin typeface="Calibri"/>
              </a:rPr>
              <a:t>Build a few random seeds, greedy, and grow from every node</a:t>
            </a:r>
          </a:p>
          <a:p>
            <a:pPr lvl="0" marL="457200" indent="-228600">
              <a:buFont typeface="Calibri"/>
              <a:spcAft>
                <a:spcPts val="1000"/>
              </a:spcAft>
              <a:buSzPct val="100000"/>
              <a:buChar char="•"/>
              <a:lnSpc>
                <a:spcPts val="2200"/>
              </a:lnSpc>
            </a:pPr>
            <a:r>
              <a:rPr sz="2000" b="0">
                <a:solidFill>
                  <a:srgbClr val="333333"/>
                </a:solidFill>
                <a:latin typeface="Calibri"/>
              </a:rPr>
              <a:t>Drop any split that breaks the size rule, then keep the smallest cut</a:t>
            </a:r>
          </a:p>
          <a:p>
            <a:pPr lvl="0" marL="457200" indent="-228600">
              <a:buFont typeface="Calibri"/>
              <a:spcAft>
                <a:spcPts val="1000"/>
              </a:spcAft>
              <a:buSzPct val="100000"/>
              <a:buChar char="•"/>
              <a:lnSpc>
                <a:spcPts val="2200"/>
              </a:lnSpc>
            </a:pPr>
            <a:r>
              <a:rPr sz="2000" b="0">
                <a:solidFill>
                  <a:srgbClr val="333333"/>
                </a:solidFill>
                <a:latin typeface="Calibri"/>
              </a:rPr>
              <a:t>Here, greedy and the five grows give three, five, five, nine, three and three</a:t>
            </a:r>
          </a:p>
          <a:p>
            <a:pPr lvl="0" marL="457200" indent="-228600">
              <a:buFont typeface="Calibri"/>
              <a:spcAft>
                <a:spcPts val="1000"/>
              </a:spcAft>
              <a:buSzPct val="100000"/>
              <a:buChar char="•"/>
              <a:lnSpc>
                <a:spcPts val="2200"/>
              </a:lnSpc>
            </a:pPr>
            <a:r>
              <a:rPr sz="2000" b="0">
                <a:solidFill>
                  <a:srgbClr val="333333"/>
                </a:solidFill>
                <a:latin typeface="Calibri"/>
              </a:rPr>
              <a:t>So the best is three: A, B and C against D and E</a:t>
            </a:r>
          </a:p>
          <a:p>
            <a:pPr lvl="0" marL="457200" indent="-228600">
              <a:buFont typeface="Calibri"/>
              <a:spcAft>
                <a:spcPts val="1000"/>
              </a:spcAft>
              <a:buSzPct val="100000"/>
              <a:buChar char="•"/>
              <a:lnSpc>
                <a:spcPts val="2200"/>
              </a:lnSpc>
            </a:pPr>
            <a:r>
              <a:rPr sz="2000" b="0">
                <a:solidFill>
                  <a:srgbClr val="333333"/>
                </a:solidFill>
                <a:latin typeface="Calibri"/>
              </a:rPr>
              <a:t>Pause and guess: can a smaller cut ever be the worse choice?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03 initial bipartition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Keep the best legal start — try these</a:t>
            </a:r>
          </a:p>
        </p:txBody>
      </p:sp>
      <p:sp>
        <p:nvSpPr>
          <p:cNvPr id="3" name="TextBox 2"/>
          <p:cNvSpPr txBox="1"/>
          <p:nvPr/>
        </p:nvSpPr>
        <p:spPr>
          <a:xfrm>
            <a:off x="548640" y="1143000"/>
            <a:ext cx="11064240" cy="5029200"/>
          </a:xfrm>
          <a:prstGeom prst="rect">
            <a:avLst/>
          </a:prstGeom>
          <a:solidFill>
            <a:srgbClr val="F4F4F4"/>
          </a:solidFill>
        </p:spPr>
        <p:txBody>
          <a:bodyPr wrap="square">
            <a:noAutofit/>
          </a:bodyPr>
          <a:lstStyle/>
          <a:p>
            <a:pPr>
              <a:lnSpc>
                <a:spcPts val="2200"/>
              </a:lnSpc>
              <a:spcAft>
                <a:spcPts val="400"/>
              </a:spcAft>
            </a:pPr>
            <a:r>
              <a:rPr sz="2000" b="0">
                <a:solidFill>
                  <a:srgbClr val="333333"/>
                </a:solidFill>
                <a:latin typeface="Consolas"/>
              </a:rPr>
              <a:t>best_start(graph):</a:t>
            </a:r>
          </a:p>
          <a:p>
            <a:pPr>
              <a:lnSpc>
                <a:spcPts val="2200"/>
              </a:lnSpc>
              <a:spcAft>
                <a:spcPts val="400"/>
              </a:spcAft>
            </a:pPr>
            <a:r>
              <a:rPr sz="2000" b="0">
                <a:solidFill>
                  <a:srgbClr val="333333"/>
                </a:solidFill>
                <a:latin typeface="Consolas"/>
              </a:rPr>
              <a:t>  starts = random(seed) for a few seeds</a:t>
            </a:r>
          </a:p>
          <a:p>
            <a:pPr>
              <a:lnSpc>
                <a:spcPts val="2200"/>
              </a:lnSpc>
              <a:spcAft>
                <a:spcPts val="400"/>
              </a:spcAft>
            </a:pPr>
            <a:r>
              <a:rPr sz="2000" b="0">
                <a:solidFill>
                  <a:srgbClr val="333333"/>
                </a:solidFill>
                <a:latin typeface="Consolas"/>
              </a:rPr>
              <a:t>         + greedy</a:t>
            </a:r>
          </a:p>
          <a:p>
            <a:pPr>
              <a:lnSpc>
                <a:spcPts val="2200"/>
              </a:lnSpc>
              <a:spcAft>
                <a:spcPts val="400"/>
              </a:spcAft>
            </a:pPr>
            <a:r>
              <a:rPr sz="2000" b="0">
                <a:solidFill>
                  <a:srgbClr val="333333"/>
                </a:solidFill>
                <a:latin typeface="Consolas"/>
              </a:rPr>
              <a:t>         + grow(x) for every node x</a:t>
            </a:r>
          </a:p>
          <a:p>
            <a:pPr>
              <a:lnSpc>
                <a:spcPts val="2200"/>
              </a:lnSpc>
              <a:spcAft>
                <a:spcPts val="400"/>
              </a:spcAft>
            </a:pPr>
            <a:r>
              <a:rPr sz="2000" b="0">
                <a:solidFill>
                  <a:srgbClr val="333333"/>
                </a:solidFill>
                <a:latin typeface="Consolas"/>
              </a:rPr>
              <a:t>  drop every start that is not legal</a:t>
            </a:r>
          </a:p>
          <a:p>
            <a:pPr>
              <a:lnSpc>
                <a:spcPts val="2200"/>
              </a:lnSpc>
              <a:spcAft>
                <a:spcPts val="400"/>
              </a:spcAft>
            </a:pPr>
            <a:r>
              <a:rPr sz="2000" b="0">
                <a:solidFill>
                  <a:srgbClr val="333333"/>
                </a:solidFill>
                <a:latin typeface="Consolas"/>
              </a:rPr>
              <a:t>  return the start with the smallest cutsize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03 initial bipartition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Trap 1: no size limit</a:t>
            </a:r>
          </a:p>
        </p:txBody>
      </p:sp>
      <p:sp>
        <p:nvSpPr>
          <p:cNvPr id="3" name="TextBox 2"/>
          <p:cNvSpPr txBox="1"/>
          <p:nvPr/>
        </p:nvSpPr>
        <p:spPr>
          <a:xfrm>
            <a:off x="548640" y="1234440"/>
            <a:ext cx="5303520" cy="475488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Three traps can fool a method that looks sensible</a:t>
            </a:r>
          </a:p>
          <a:p>
            <a:pPr lvl="0" marL="457200" indent="-228600">
              <a:buFont typeface="Calibri"/>
              <a:spcAft>
                <a:spcPts val="1000"/>
              </a:spcAft>
              <a:buSzPct val="100000"/>
              <a:buChar char="•"/>
              <a:lnSpc>
                <a:spcPts val="2200"/>
              </a:lnSpc>
            </a:pPr>
            <a:r>
              <a:rPr sz="2000" b="0">
                <a:solidFill>
                  <a:srgbClr val="333333"/>
                </a:solidFill>
                <a:latin typeface="Calibri"/>
              </a:rPr>
              <a:t>And yes, a smaller cut can be the worse choice</a:t>
            </a:r>
          </a:p>
          <a:p>
            <a:pPr lvl="0" marL="457200" indent="-228600">
              <a:buFont typeface="Calibri"/>
              <a:spcAft>
                <a:spcPts val="1000"/>
              </a:spcAft>
              <a:buSzPct val="100000"/>
              <a:buChar char="•"/>
              <a:lnSpc>
                <a:spcPts val="2200"/>
              </a:lnSpc>
            </a:pPr>
            <a:r>
              <a:rPr sz="2000" b="0">
                <a:solidFill>
                  <a:srgbClr val="333333"/>
                </a:solidFill>
                <a:latin typeface="Calibri"/>
              </a:rPr>
              <a:t>Here is a star: A in the middle, wired to five other cells</a:t>
            </a:r>
          </a:p>
          <a:p>
            <a:pPr lvl="0" marL="457200" indent="-228600">
              <a:buFont typeface="Calibri"/>
              <a:spcAft>
                <a:spcPts val="1000"/>
              </a:spcAft>
              <a:buSzPct val="100000"/>
              <a:buChar char="•"/>
              <a:lnSpc>
                <a:spcPts val="2200"/>
              </a:lnSpc>
            </a:pPr>
            <a:r>
              <a:rPr sz="2000" b="0">
                <a:solidFill>
                  <a:srgbClr val="333333"/>
                </a:solidFill>
                <a:latin typeface="Calibri"/>
              </a:rPr>
              <a:t>An older greedy had no size limit, so it kept adding cells next to A</a:t>
            </a:r>
          </a:p>
          <a:p>
            <a:pPr lvl="0" marL="457200" indent="-228600">
              <a:buFont typeface="Calibri"/>
              <a:spcAft>
                <a:spcPts val="1000"/>
              </a:spcAft>
              <a:buSzPct val="100000"/>
              <a:buChar char="•"/>
              <a:lnSpc>
                <a:spcPts val="2200"/>
              </a:lnSpc>
            </a:pPr>
            <a:r>
              <a:rPr sz="2000" b="0">
                <a:solidFill>
                  <a:srgbClr val="333333"/>
                </a:solidFill>
                <a:latin typeface="Calibri"/>
              </a:rPr>
              <a:t>It ended with five cells against one, and a cut of five</a:t>
            </a:r>
          </a:p>
        </p:txBody>
      </p:sp>
      <p:pic>
        <p:nvPicPr>
          <p:cNvPr id="4" name="Picture 3" descr="star-cap-1.png"/>
          <p:cNvPicPr>
            <a:picLocks noChangeAspect="1"/>
          </p:cNvPicPr>
          <p:nvPr/>
        </p:nvPicPr>
        <p:blipFill>
          <a:blip r:embed="rId2"/>
          <a:stretch>
            <a:fillRect/>
          </a:stretch>
        </p:blipFill>
        <p:spPr>
          <a:xfrm>
            <a:off x="6172200" y="1234440"/>
            <a:ext cx="3733215" cy="4754879"/>
          </a:xfrm>
          <a:prstGeom prst="rect">
            <a:avLst/>
          </a:prstGeom>
        </p:spPr>
      </p:pic>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03 initial bipartition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Trap 1: the size limit fixes it</a:t>
            </a:r>
          </a:p>
        </p:txBody>
      </p:sp>
      <p:sp>
        <p:nvSpPr>
          <p:cNvPr id="3" name="TextBox 2"/>
          <p:cNvSpPr txBox="1"/>
          <p:nvPr/>
        </p:nvSpPr>
        <p:spPr>
          <a:xfrm>
            <a:off x="548640" y="1234440"/>
            <a:ext cx="5303520" cy="475488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With six cells, each side must hold exactly three, so that split is not legal</a:t>
            </a:r>
          </a:p>
          <a:p>
            <a:pPr lvl="0" marL="457200" indent="-228600">
              <a:buFont typeface="Calibri"/>
              <a:spcAft>
                <a:spcPts val="1000"/>
              </a:spcAft>
              <a:buSzPct val="100000"/>
              <a:buChar char="•"/>
              <a:lnSpc>
                <a:spcPts val="2200"/>
              </a:lnSpc>
            </a:pPr>
            <a:r>
              <a:rPr sz="2000" b="0">
                <a:solidFill>
                  <a:srgbClr val="333333"/>
                </a:solidFill>
                <a:latin typeface="Calibri"/>
              </a:rPr>
              <a:t>Our greedy stops each side at three cells, and gets fifteen</a:t>
            </a:r>
          </a:p>
          <a:p>
            <a:pPr lvl="0" marL="457200" indent="-228600">
              <a:buFont typeface="Calibri"/>
              <a:spcAft>
                <a:spcPts val="1000"/>
              </a:spcAft>
              <a:buSzPct val="100000"/>
              <a:buChar char="•"/>
              <a:lnSpc>
                <a:spcPts val="2200"/>
              </a:lnSpc>
            </a:pPr>
            <a:r>
              <a:rPr sz="2000" b="0">
                <a:solidFill>
                  <a:srgbClr val="333333"/>
                </a:solidFill>
                <a:latin typeface="Calibri"/>
              </a:rPr>
              <a:t>No legal split of this star does better</a:t>
            </a:r>
          </a:p>
        </p:txBody>
      </p:sp>
      <p:pic>
        <p:nvPicPr>
          <p:cNvPr id="4" name="Picture 3" descr="star-cap.png"/>
          <p:cNvPicPr>
            <a:picLocks noChangeAspect="1"/>
          </p:cNvPicPr>
          <p:nvPr/>
        </p:nvPicPr>
        <p:blipFill>
          <a:blip r:embed="rId2"/>
          <a:stretch>
            <a:fillRect/>
          </a:stretch>
        </p:blipFill>
        <p:spPr>
          <a:xfrm>
            <a:off x="6172200" y="1234440"/>
            <a:ext cx="3733215" cy="4754879"/>
          </a:xfrm>
          <a:prstGeom prst="rect">
            <a:avLst/>
          </a:prstGeom>
        </p:spPr>
      </p:pic>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03 initial bipartition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Trap 2: a tie can decide the answer</a:t>
            </a:r>
          </a:p>
        </p:txBody>
      </p:sp>
      <p:sp>
        <p:nvSpPr>
          <p:cNvPr id="3" name="TextBox 2"/>
          <p:cNvSpPr txBox="1"/>
          <p:nvPr/>
        </p:nvSpPr>
        <p:spPr>
          <a:xfrm>
            <a:off x="548640" y="1234440"/>
            <a:ext cx="5303520" cy="475488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In this graph, A–B and D–E both weigh five</a:t>
            </a:r>
          </a:p>
          <a:p>
            <a:pPr lvl="0" marL="457200" indent="-228600">
              <a:buFont typeface="Calibri"/>
              <a:spcAft>
                <a:spcPts val="1000"/>
              </a:spcAft>
              <a:buSzPct val="100000"/>
              <a:buChar char="•"/>
              <a:lnSpc>
                <a:spcPts val="2200"/>
              </a:lnSpc>
            </a:pPr>
            <a:r>
              <a:rPr sz="2000" b="0">
                <a:solidFill>
                  <a:srgbClr val="333333"/>
                </a:solidFill>
                <a:latin typeface="Calibri"/>
              </a:rPr>
              <a:t>Greedy must pick one of them to start from</a:t>
            </a:r>
          </a:p>
          <a:p>
            <a:pPr lvl="0" marL="457200" indent="-228600">
              <a:buFont typeface="Calibri"/>
              <a:spcAft>
                <a:spcPts val="1000"/>
              </a:spcAft>
              <a:buSzPct val="100000"/>
              <a:buChar char="•"/>
              <a:lnSpc>
                <a:spcPts val="2200"/>
              </a:lnSpc>
            </a:pPr>
            <a:r>
              <a:rPr sz="2000" b="0">
                <a:solidFill>
                  <a:srgbClr val="333333"/>
                </a:solidFill>
                <a:latin typeface="Calibri"/>
              </a:rPr>
              <a:t>The rule picks the smaller name, A–B, and that gives a cut of nine</a:t>
            </a:r>
          </a:p>
        </p:txBody>
      </p:sp>
      <p:pic>
        <p:nvPicPr>
          <p:cNvPr id="4" name="Picture 3" descr="tie-graph-1.png"/>
          <p:cNvPicPr>
            <a:picLocks noChangeAspect="1"/>
          </p:cNvPicPr>
          <p:nvPr/>
        </p:nvPicPr>
        <p:blipFill>
          <a:blip r:embed="rId2"/>
          <a:stretch>
            <a:fillRect/>
          </a:stretch>
        </p:blipFill>
        <p:spPr>
          <a:xfrm>
            <a:off x="6172200" y="1234440"/>
            <a:ext cx="4007853" cy="4754879"/>
          </a:xfrm>
          <a:prstGeom prst="rect">
            <a:avLst/>
          </a:prstGeom>
        </p:spPr>
      </p:pic>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03 initial bipartition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Trap 2: the other anchor</a:t>
            </a:r>
          </a:p>
        </p:txBody>
      </p:sp>
      <p:sp>
        <p:nvSpPr>
          <p:cNvPr id="3" name="TextBox 2"/>
          <p:cNvSpPr txBox="1"/>
          <p:nvPr/>
        </p:nvSpPr>
        <p:spPr>
          <a:xfrm>
            <a:off x="548640" y="1234440"/>
            <a:ext cx="5303520" cy="475488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Starting from D–E instead gives a cut of four</a:t>
            </a:r>
          </a:p>
          <a:p>
            <a:pPr lvl="0" marL="457200" indent="-228600">
              <a:buFont typeface="Calibri"/>
              <a:spcAft>
                <a:spcPts val="1000"/>
              </a:spcAft>
              <a:buSzPct val="100000"/>
              <a:buChar char="•"/>
              <a:lnSpc>
                <a:spcPts val="2200"/>
              </a:lnSpc>
            </a:pPr>
            <a:r>
              <a:rPr sz="2000" b="0">
                <a:solidFill>
                  <a:srgbClr val="333333"/>
                </a:solidFill>
                <a:latin typeface="Calibri"/>
              </a:rPr>
              <a:t>So a tie rule more than doubled the cut</a:t>
            </a:r>
          </a:p>
          <a:p>
            <a:pPr lvl="0" marL="457200" indent="-228600">
              <a:buFont typeface="Calibri"/>
              <a:spcAft>
                <a:spcPts val="1000"/>
              </a:spcAft>
              <a:buSzPct val="100000"/>
              <a:buChar char="•"/>
              <a:lnSpc>
                <a:spcPts val="2200"/>
              </a:lnSpc>
            </a:pPr>
            <a:r>
              <a:rPr sz="2000" b="0">
                <a:solidFill>
                  <a:srgbClr val="333333"/>
                </a:solidFill>
                <a:latin typeface="Calibri"/>
              </a:rPr>
              <a:t>Grow from C also finds four</a:t>
            </a:r>
          </a:p>
        </p:txBody>
      </p:sp>
      <p:pic>
        <p:nvPicPr>
          <p:cNvPr id="4" name="Picture 3" descr="tie-graph.png"/>
          <p:cNvPicPr>
            <a:picLocks noChangeAspect="1"/>
          </p:cNvPicPr>
          <p:nvPr/>
        </p:nvPicPr>
        <p:blipFill>
          <a:blip r:embed="rId2"/>
          <a:stretch>
            <a:fillRect/>
          </a:stretch>
        </p:blipFill>
        <p:spPr>
          <a:xfrm>
            <a:off x="6172200" y="1234440"/>
            <a:ext cx="4007853" cy="4754879"/>
          </a:xfrm>
          <a:prstGeom prst="rect">
            <a:avLst/>
          </a:prstGeom>
        </p:spPr>
      </p:pic>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03 initial bipartition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Trap 3: the heaviest wire is not always inside</a:t>
            </a:r>
          </a:p>
        </p:txBody>
      </p:sp>
      <p:sp>
        <p:nvSpPr>
          <p:cNvPr id="3" name="TextBox 2"/>
          <p:cNvSpPr txBox="1"/>
          <p:nvPr/>
        </p:nvSpPr>
        <p:spPr>
          <a:xfrm>
            <a:off x="548640" y="1234440"/>
            <a:ext cx="5303520" cy="475488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Here are two triangles, joined by one bridge, C–D, with weight four</a:t>
            </a:r>
          </a:p>
          <a:p>
            <a:pPr lvl="0" marL="457200" indent="-228600">
              <a:buFont typeface="Calibri"/>
              <a:spcAft>
                <a:spcPts val="1000"/>
              </a:spcAft>
              <a:buSzPct val="100000"/>
              <a:buChar char="•"/>
              <a:lnSpc>
                <a:spcPts val="2200"/>
              </a:lnSpc>
            </a:pPr>
            <a:r>
              <a:rPr sz="2000" b="0">
                <a:solidFill>
                  <a:srgbClr val="333333"/>
                </a:solidFill>
                <a:latin typeface="Calibri"/>
              </a:rPr>
              <a:t>Every triangle edge weighs three</a:t>
            </a:r>
          </a:p>
          <a:p>
            <a:pPr lvl="0" marL="457200" indent="-228600">
              <a:buFont typeface="Calibri"/>
              <a:spcAft>
                <a:spcPts val="1000"/>
              </a:spcAft>
              <a:buSzPct val="100000"/>
              <a:buChar char="•"/>
              <a:lnSpc>
                <a:spcPts val="2200"/>
              </a:lnSpc>
            </a:pPr>
            <a:r>
              <a:rPr sz="2000" b="0">
                <a:solidFill>
                  <a:srgbClr val="333333"/>
                </a:solidFill>
                <a:latin typeface="Calibri"/>
              </a:rPr>
              <a:t>Greedy starts from the heaviest edge, which is the bridge itself</a:t>
            </a:r>
          </a:p>
          <a:p>
            <a:pPr lvl="0" marL="457200" indent="-228600">
              <a:buFont typeface="Calibri"/>
              <a:spcAft>
                <a:spcPts val="1000"/>
              </a:spcAft>
              <a:buSzPct val="100000"/>
              <a:buChar char="•"/>
              <a:lnSpc>
                <a:spcPts val="2200"/>
              </a:lnSpc>
            </a:pPr>
            <a:r>
              <a:rPr sz="2000" b="0">
                <a:solidFill>
                  <a:srgbClr val="333333"/>
                </a:solidFill>
                <a:latin typeface="Calibri"/>
              </a:rPr>
              <a:t>So C and D begin on the same side, and the cut ends at twelve</a:t>
            </a:r>
          </a:p>
        </p:txBody>
      </p:sp>
      <p:pic>
        <p:nvPicPr>
          <p:cNvPr id="4" name="Picture 3" descr="bridge-graph-1.png"/>
          <p:cNvPicPr>
            <a:picLocks noChangeAspect="1"/>
          </p:cNvPicPr>
          <p:nvPr/>
        </p:nvPicPr>
        <p:blipFill>
          <a:blip r:embed="rId2"/>
          <a:stretch>
            <a:fillRect/>
          </a:stretch>
        </p:blipFill>
        <p:spPr>
          <a:xfrm>
            <a:off x="6172200" y="1234440"/>
            <a:ext cx="4007853" cy="4754879"/>
          </a:xfrm>
          <a:prstGeom prst="rect">
            <a:avLst/>
          </a:prstGeom>
        </p:spPr>
      </p:pic>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03 initial bipartition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Trap 3: grow keeps the triangles</a:t>
            </a:r>
          </a:p>
        </p:txBody>
      </p:sp>
      <p:sp>
        <p:nvSpPr>
          <p:cNvPr id="3" name="TextBox 2"/>
          <p:cNvSpPr txBox="1"/>
          <p:nvPr/>
        </p:nvSpPr>
        <p:spPr>
          <a:xfrm>
            <a:off x="548640" y="1234440"/>
            <a:ext cx="5303520" cy="475488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Grow from A keeps its triangle together, and cuts only the bridge: four</a:t>
            </a:r>
          </a:p>
          <a:p>
            <a:pPr lvl="0" marL="457200" indent="-228600">
              <a:buFont typeface="Calibri"/>
              <a:spcAft>
                <a:spcPts val="1000"/>
              </a:spcAft>
              <a:buSzPct val="100000"/>
              <a:buChar char="•"/>
              <a:lnSpc>
                <a:spcPts val="2200"/>
              </a:lnSpc>
            </a:pPr>
            <a:r>
              <a:rPr sz="2000" b="0">
                <a:solidFill>
                  <a:srgbClr val="333333"/>
                </a:solidFill>
                <a:latin typeface="Calibri"/>
              </a:rPr>
              <a:t>Pause and guess: is grow always better than greedy?</a:t>
            </a:r>
          </a:p>
        </p:txBody>
      </p:sp>
      <p:pic>
        <p:nvPicPr>
          <p:cNvPr id="4" name="Picture 3" descr="bridge-graph.png"/>
          <p:cNvPicPr>
            <a:picLocks noChangeAspect="1"/>
          </p:cNvPicPr>
          <p:nvPr/>
        </p:nvPicPr>
        <p:blipFill>
          <a:blip r:embed="rId2"/>
          <a:stretch>
            <a:fillRect/>
          </a:stretch>
        </p:blipFill>
        <p:spPr>
          <a:xfrm>
            <a:off x="6172200" y="1234440"/>
            <a:ext cx="4007853" cy="4754879"/>
          </a:xfrm>
          <a:prstGeom prst="rect">
            <a:avLst/>
          </a:prstGeom>
        </p:spPr>
      </p:pic>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03 initial bipartition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Browser lab track</a:t>
            </a:r>
          </a:p>
        </p:txBody>
      </p:sp>
      <p:pic>
        <p:nvPicPr>
          <p:cNvPr id="3" name="Picture 2" descr="lab-starter.png"/>
          <p:cNvPicPr>
            <a:picLocks noChangeAspect="1"/>
          </p:cNvPicPr>
          <p:nvPr/>
        </p:nvPicPr>
        <p:blipFill>
          <a:blip r:embed="rId2"/>
          <a:stretch>
            <a:fillRect/>
          </a:stretch>
        </p:blipFill>
        <p:spPr>
          <a:xfrm>
            <a:off x="548640" y="1143000"/>
            <a:ext cx="5418666" cy="4571999"/>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Browser lab starter</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03 initial bipartition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Implement track</a:t>
            </a:r>
          </a:p>
        </p:txBody>
      </p:sp>
      <p:pic>
        <p:nvPicPr>
          <p:cNvPr id="3" name="Picture 2" descr="real-shell.png"/>
          <p:cNvPicPr>
            <a:picLocks noChangeAspect="1"/>
          </p:cNvPicPr>
          <p:nvPr/>
        </p:nvPicPr>
        <p:blipFill>
          <a:blip r:embed="rId2"/>
          <a:stretch>
            <a:fillRect/>
          </a:stretch>
        </p:blipFill>
        <p:spPr>
          <a:xfrm>
            <a:off x="548640" y="1143000"/>
            <a:ext cx="9160625"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Real shell session</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03 initial bipartition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Implement track — try these</a:t>
            </a:r>
          </a:p>
        </p:txBody>
      </p:sp>
      <p:sp>
        <p:nvSpPr>
          <p:cNvPr id="3" name="TextBox 2"/>
          <p:cNvSpPr txBox="1"/>
          <p:nvPr/>
        </p:nvSpPr>
        <p:spPr>
          <a:xfrm>
            <a:off x="548640" y="1143000"/>
            <a:ext cx="11064240" cy="5029200"/>
          </a:xfrm>
          <a:prstGeom prst="rect">
            <a:avLst/>
          </a:prstGeom>
          <a:solidFill>
            <a:srgbClr val="F4F4F4"/>
          </a:solidFill>
        </p:spPr>
        <p:txBody>
          <a:bodyPr wrap="square">
            <a:noAutofit/>
          </a:bodyPr>
          <a:lstStyle/>
          <a:p>
            <a:pPr>
              <a:lnSpc>
                <a:spcPts val="2200"/>
              </a:lnSpc>
              <a:spcAft>
                <a:spcPts val="400"/>
              </a:spcAft>
            </a:pPr>
            <a:r>
              <a:rPr sz="2000" b="0">
                <a:solidFill>
                  <a:srgbClr val="333333"/>
                </a:solidFill>
                <a:latin typeface="Consolas"/>
              </a:rPr>
              <a:t># print every correct answer</a:t>
            </a:r>
          </a:p>
          <a:p>
            <a:pPr>
              <a:lnSpc>
                <a:spcPts val="2200"/>
              </a:lnSpc>
              <a:spcAft>
                <a:spcPts val="400"/>
              </a:spcAft>
            </a:pPr>
            <a:r>
              <a:rPr sz="2000" b="0">
                <a:solidFill>
                  <a:srgbClr val="333333"/>
                </a:solidFill>
                <a:latin typeface="Consolas"/>
              </a:rPr>
              <a:t>python3 examples/initial_bipartition_check.py --show</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 check your own functions</a:t>
            </a:r>
          </a:p>
          <a:p>
            <a:pPr>
              <a:lnSpc>
                <a:spcPts val="2200"/>
              </a:lnSpc>
              <a:spcAft>
                <a:spcPts val="400"/>
              </a:spcAft>
            </a:pPr>
            <a:r>
              <a:rPr sz="2000" b="0">
                <a:solidFill>
                  <a:srgbClr val="333333"/>
                </a:solidFill>
                <a:latin typeface="Consolas"/>
              </a:rPr>
              <a:t>python3 examples/initial_bipartition_check.py --impl my_init.py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03 initial bipartition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Remember</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Random is fast, but it depends on luck</a:t>
            </a:r>
          </a:p>
          <a:p>
            <a:pPr lvl="0" marL="457200" indent="-228600">
              <a:buFont typeface="Calibri"/>
              <a:spcAft>
                <a:spcPts val="1000"/>
              </a:spcAft>
              <a:buSzPct val="100000"/>
              <a:buChar char="•"/>
              <a:lnSpc>
                <a:spcPts val="2200"/>
              </a:lnSpc>
            </a:pPr>
            <a:r>
              <a:rPr sz="2000" b="0">
                <a:solidFill>
                  <a:srgbClr val="333333"/>
                </a:solidFill>
                <a:latin typeface="Calibri"/>
              </a:rPr>
              <a:t>Greedy keeps heavy edges inside, but ties and bridges can fool it</a:t>
            </a:r>
          </a:p>
          <a:p>
            <a:pPr lvl="0" marL="457200" indent="-228600">
              <a:buFont typeface="Calibri"/>
              <a:spcAft>
                <a:spcPts val="1000"/>
              </a:spcAft>
              <a:buSzPct val="100000"/>
              <a:buChar char="•"/>
              <a:lnSpc>
                <a:spcPts val="2200"/>
              </a:lnSpc>
            </a:pPr>
            <a:r>
              <a:rPr sz="2000" b="0">
                <a:solidFill>
                  <a:srgbClr val="333333"/>
                </a:solidFill>
                <a:latin typeface="Calibri"/>
              </a:rPr>
              <a:t>Grow depends on its start node</a:t>
            </a:r>
          </a:p>
          <a:p>
            <a:pPr lvl="0" marL="457200" indent="-228600">
              <a:buFont typeface="Calibri"/>
              <a:spcAft>
                <a:spcPts val="1000"/>
              </a:spcAft>
              <a:buSzPct val="100000"/>
              <a:buChar char="•"/>
              <a:lnSpc>
                <a:spcPts val="2200"/>
              </a:lnSpc>
            </a:pPr>
            <a:r>
              <a:rPr sz="2000" b="0">
                <a:solidFill>
                  <a:srgbClr val="333333"/>
                </a:solidFill>
                <a:latin typeface="Calibri"/>
              </a:rPr>
              <a:t>Report the balance with every cut, and never let a side pass its limit</a:t>
            </a:r>
          </a:p>
          <a:p>
            <a:pPr lvl="0" marL="457200" indent="-228600">
              <a:buFont typeface="Calibri"/>
              <a:spcAft>
                <a:spcPts val="1000"/>
              </a:spcAft>
              <a:buSzPct val="100000"/>
              <a:buChar char="•"/>
              <a:lnSpc>
                <a:spcPts val="2200"/>
              </a:lnSpc>
            </a:pPr>
            <a:r>
              <a:rPr sz="2000" b="0">
                <a:solidFill>
                  <a:srgbClr val="333333"/>
                </a:solidFill>
                <a:latin typeface="Calibri"/>
              </a:rPr>
              <a:t>Break ties by name, not by the order of the input file</a:t>
            </a:r>
          </a:p>
          <a:p>
            <a:pPr lvl="0" marL="457200" indent="-228600">
              <a:buFont typeface="Calibri"/>
              <a:spcAft>
                <a:spcPts val="1000"/>
              </a:spcAft>
              <a:buSzPct val="100000"/>
              <a:buChar char="•"/>
              <a:lnSpc>
                <a:spcPts val="2200"/>
              </a:lnSpc>
            </a:pPr>
            <a:r>
              <a:rPr sz="2000" b="0">
                <a:solidFill>
                  <a:srgbClr val="333333"/>
                </a:solidFill>
                <a:latin typeface="Calibri"/>
              </a:rPr>
              <a:t>So try several starts, keep the best legal one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03 initial bipartition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Your turn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Pick a track: the browser lab, Python, or both</a:t>
            </a:r>
          </a:p>
          <a:p>
            <a:pPr lvl="0" marL="457200" indent="-228600">
              <a:buFont typeface="Calibri"/>
              <a:spcAft>
                <a:spcPts val="1000"/>
              </a:spcAft>
              <a:buSzPct val="100000"/>
              <a:buChar char="•"/>
              <a:lnSpc>
                <a:spcPts val="2200"/>
              </a:lnSpc>
            </a:pPr>
            <a:r>
              <a:rPr sz="2000" b="0">
                <a:solidFill>
                  <a:srgbClr val="333333"/>
                </a:solidFill>
                <a:latin typeface="Calibri"/>
              </a:rPr>
              <a:t>Tick each box of the checklist, then take the short quiz</a:t>
            </a:r>
          </a:p>
          <a:p>
            <a:pPr lvl="0" marL="457200" indent="-228600">
              <a:buFont typeface="Calibri"/>
              <a:spcAft>
                <a:spcPts val="1000"/>
              </a:spcAft>
              <a:buSzPct val="100000"/>
              <a:buChar char="•"/>
              <a:lnSpc>
                <a:spcPts val="2200"/>
              </a:lnSpc>
            </a:pPr>
            <a:r>
              <a:rPr sz="2000" b="0">
                <a:solidFill>
                  <a:srgbClr val="333333"/>
                </a:solidFill>
                <a:latin typeface="Calibri"/>
              </a:rPr>
              <a:t>Next comes Kernighan–Lin, which starts from your split and makes it better</a:t>
            </a:r>
          </a:p>
          <a:p>
            <a:pPr lvl="0" marL="457200" indent="-228600">
              <a:buFont typeface="Calibri"/>
              <a:spcAft>
                <a:spcPts val="1000"/>
              </a:spcAft>
              <a:buSzPct val="100000"/>
              <a:buChar char="•"/>
              <a:lnSpc>
                <a:spcPts val="2200"/>
              </a:lnSpc>
            </a:pPr>
            <a:r>
              <a:rPr sz="2000" b="0">
                <a:solidFill>
                  <a:srgbClr val="333333"/>
                </a:solidFill>
                <a:latin typeface="Calibri"/>
              </a:rPr>
              <a:t>Pause and guess: how much can it shrink the unlucky cut of sixteen?</a:t>
            </a:r>
          </a:p>
          <a:p>
            <a:pPr lvl="0" marL="457200" indent="-228600">
              <a:buFont typeface="Calibri"/>
              <a:spcAft>
                <a:spcPts val="1000"/>
              </a:spcAft>
              <a:buSzPct val="100000"/>
              <a:buChar char="•"/>
              <a:lnSpc>
                <a:spcPts val="2200"/>
              </a:lnSpc>
            </a:pPr>
            <a:r>
              <a:rPr sz="2000" b="0">
                <a:solidFill>
                  <a:srgbClr val="333333"/>
                </a:solidFill>
                <a:latin typeface="Calibri"/>
              </a:rPr>
              <a:t>Lab four will show you</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learn_partitioning — 03 initial bipartition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