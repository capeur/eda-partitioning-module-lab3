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d'améliorer une coupe, il faut une première coupe. Cette première coupe s'appelle la bipartition initiale. Vous allez découvrir trois façons de la construire : aléatoire, gloutonne et par croissance. Vous verrez le même petit graphe obtenir une coupe de trois, ou une coupe de seize. Et vous apprendrez la bonne habitude qui règle ce problème : essayer plusieurs départs, et garder le meilleur.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puce est faite de petites briques appelées cellules, reliées par des fils. On dessine chaque cellule comme un point, appelé nœud. Un trait entre deux nœuds est une arête : les deux cellules sont reliées. Le nombre sur une arête est son poids : combien de fils relient la paire. Notre exemple a cinq cellules, de A à E. Les arêtes les plus lourdes, A–B et D–E, ont cinq fils chacune.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Couper une puce en deux côtés s'appelle une bipartition. Les arêtes qui passent d'un côté à l'autre sont coupées, et on les dessine en rouge. La taille de coupe additionne leurs poids : ici, deux plus un font trois. Tout mettre du même côté donne une coupe de zéro, mais cela ne sert à rien. On vérifie donc aussi l'équilibre : combien de cellules chaque côté contient. Une partition est valide quand aucun côté ne dépasse trois cellules sur cinq.</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labs quatre et cinq enseignent deux méthodes célèbres, appelées KL et FM. Elles améliorent une partition en déplaçant des cellules d'un côté à l'autre. Mais elles ne peuvent qu'améliorer : il leur faut une partition valide pour démarrer. Pensez à former deux équipes pour un jeu. D'abord deux équipes au hasard, puis on échange des joueurs pour équilibrer. Un bon premier découpage laisse moins d'échanges à faire.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notre graphe, avant toute coupe. Il a cinq cellules, donc les côtés auront deux cellules et trois cellules. Chaque méthode donne deux nombres : la taille de coupe et l'équilibre. Construisons une première partition de trois façons différentes.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un est l'aléatoire. Écrivez les cinq noms sur des cartes, mélangez-les, et donnez deux cartes à un côté. Les trois autres cartes vont de l'autre côté. Un ordinateur mélange à l'aide d'un nombre appelé la graine. La même graine donne toujours le même mélange. Avec la graine cinq, D et E tombent ensemble. Seules C–D et C–E sont coupées, donc la taille de coupe est trois. C'est la meilleure partition de ce graphe, trouvée par pure chance.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deux est la méthode gloutonne : à chaque étape, elle prend ce qui paraît le meilleur sur le moment. Elle commence par mettre les deux bouts de l'arête la plus lourde du même côté. A–B et D–E pèsent cinq toutes les deux, donc une règle fixe choisit le plus petit nom : A–B. D démarre l'autre côté : il n'a aucun fil vers A ou B, et il vient avant E. C rejoint A et B, avec cinq fils de ce côté contre deux vers D. Enfin E rejoint D, ce qui ne coupe que l'arête de poids un vers C. La taille de coupe est trois.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trois est la croissance. Choisissez un nœud de départ, et faites grandir un côté autour de lui, comme une goutte d'encre qui s'étale sur le papier. À chaque étape, ajoutez le nœud au bout de l'arête la plus lourde qui sort du côté. Partons de D. L'arête la plus lourde qui sort de D va vers E, avec un poids de cinq. Le côté contient alors deux cellules sur cinq, ce qui suffit, donc il s'arrête. A, B et C forment l'autre côté, et la taille de coupe vaut encore trois.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Jusqu'ici, les trois méthodes ont trouvé la même partition. Mais c'était en partie de la chance. D'autres graines et d'autres nœuds de départ donnent des coupes de trois jusqu'à seize. Chacune de ces partitions est valide, donc aucune n'est fausse. C'est pourquoi on construit plusieurs départs, et on garde celui qui a la plus petite coupe.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Voyons maintenant jusqu'où peut aller la malchance. Avec la graine trois, le mélange donne B et D à un côté. A, C et E se retrouvent de l'autre. Additionnons la coupe, arête par arête. A–B cinq, B–C quatre, C–D deux et D–E cinq : seize au total. Les deux arêtes lourdes sont coupées, donc c'est la pire partition valide qui existe. Sur les seize graines essayées, seules trois donnent la meilleure coupe, trois.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croissance n'a pas de hasard, mais elle a un choix : le nœud de départ. Partons de A au lieu de D. L'arête la plus lourde qui sort de A va vers B, avec un poids de cinq, donc B rejoint A. Avec deux cellules, le côté est plein, et il s'arrête. C, D et E forment l'autre côté, donc A–C et B–C sont coupées. Un plus quatre font cinq, ce qui est pire que trois. Partir de C est encore pire : une taille de coupe de neuf.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est simple : ne jamais faire confiance à un seul départ. Construisez-en plusieurs : graines aléatoires, glouton, croissance depuis chaque nœud. Jetez toute partition qui enfreint la règle de taille. Gardez celle dont la coupe est la plus petite. Ici, le glouton et les cinq croissances donnent trois, cinq, cinq, neuf, trois, trois. Le meilleur est trois : A, B et C contre D et 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une étoile : A est au milieu, relié à toutes les autres cellules. A–B pèse neuf, et les quatre autres arêtes pèsent cinq. Avec six cellules, chaque côté doit en contenir exactement trois. Un ancien glouton sans limite de taille ajoutait toujours des cellules près de A. Il finissait avec cinq cellules contre une : coupe cinq, mais pas valide. Notre glouton arrête chaque côté à trois cellules, et obtient quinze. Aucune partition valide de cette étoile ne fait mieux.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 graphe, A–B et D–E pèsent de nouveau cinq toutes les deux. Le glouton doit en choisir une pour démarrer. La règle prend le plus petit nom, A–B, et cela donne une taille de coupe de neuf. Démarrer de D–E donne une taille de coupe de quatre. Une simple règle de départage a donc plus que doublé la coupe. La croissance depuis C trouve aussi quatre, une raison de plus d'essayer plusieurs départs.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deux triangles, reliés par un seul pont, C–D, de poids quatre. Chaque arête de triangle pèse trois. La coupe naturelle met un triangle de chaque côté, et ne coupe que le pont. Mais le glouton démarre de l'arête la plus lourde, et ici c'est le pont lui-même. C et D commencent donc du même côté, et la coupe finit à douze. La croissance depuis A garde son triangle ensemble et ne coupe que le pont : quatre.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le lab du navigateur, vous travaillez sur le même petit graphe. Vous pouvez déplacer des cellules d'un côté à l'autre, et voir la taille de coupe et l'équilibre changer. Vous pouvez aussi lancer l'aléatoire, le glouton et la croissance, et comparer leurs coupes. Les défis vérifient la partition que vous avez construite, pas le bouton sur lequel vous avez cliqué. Par exemple : trouvez le nœud de départ qui donne la plus petite coupe.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vous aimez programmer, écrivez les trois méthodes en Python. Le fichier d'exemples donne les règles exactes, y compris la façon de départager les égalités. D'abord, lancez le vérificateur pour afficher toutes les bonnes réponses. Ensuite écrivez vos propres fonctions, et lancez le vérificateur sur votre fichier. Il passe aussi le graphe à l'envers, donc une règle de départage manquante se voit comme un échec.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à quatre erreurs courantes. Donner la taille de coupe sans l'équilibre. Laisser un côté dépasser sa limite, ce qui embellit la coupe. Se fier à une seule graine : ici, la coupe va de trois à seize. Et départager selon l'ordre de l'entrée : la réponse change avec le fichier.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 méthodes comme KL et FM ont besoin d'une première partition valide. L'aléatoire mélange et distribue : c'est rapide, mais cela dépend de la chance. Le glouton garde l'arête la plus lourde dedans, puis coupe le moins possible. La croissance s'étend depuis un nœud de départ, donc le nœud de départ compte. Les égalités et les limites de taille peuvent changer la réponse. Construisez plusieurs départs, gardez les valides, choisissez la plus petite coupe.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maintenant à vous. Choisissez un parcours : le lab dans le navigateur, le parcours Python, ou les deux. Cochez chaque case de la liste de contrôle au fur et à mesure. Puis faites le court quiz pour vérifier les idées principales. La suite, c'est Kernighan–Lin, qui part de votre partition et l'améliore.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Bipartition initiale</a:t>
            </a:r>
          </a:p>
          <a:p>
            <a:pPr algn="ctr">
              <a:lnSpc>
                <a:spcPts val="2200"/>
              </a:lnSpc>
              <a:spcBef>
                <a:spcPts val="1400"/>
              </a:spcBef>
            </a:pPr>
            <a:r>
              <a:rPr sz="2600" b="0">
                <a:solidFill>
                  <a:srgbClr val="333333"/>
                </a:solidFill>
                <a:latin typeface="Calibri"/>
              </a:rPr>
              <a:t>Avant d'améliorer une coupe, il faut une première coupe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D'une puce à un graphe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Une puce est faite de petites briques appelées cellules, reliées par des fils</a:t>
            </a:r>
          </a:p>
          <a:p>
            <a:pPr lvl="0" marL="457200" indent="-228600">
              <a:buFont typeface="Calibri"/>
              <a:spcAft>
                <a:spcPts val="1000"/>
              </a:spcAft>
              <a:buSzPct val="100000"/>
              <a:buChar char="•"/>
              <a:lnSpc>
                <a:spcPts val="2200"/>
              </a:lnSpc>
            </a:pPr>
            <a:r>
              <a:rPr sz="2000" b="0">
                <a:solidFill>
                  <a:srgbClr val="333333"/>
                </a:solidFill>
                <a:latin typeface="Calibri"/>
              </a:rPr>
              <a:t>On dessine chaque cellule comme un point, appelé nœud</a:t>
            </a:r>
          </a:p>
          <a:p>
            <a:pPr lvl="0" marL="457200" indent="-228600">
              <a:buFont typeface="Calibri"/>
              <a:spcAft>
                <a:spcPts val="1000"/>
              </a:spcAft>
              <a:buSzPct val="100000"/>
              <a:buChar char="•"/>
              <a:lnSpc>
                <a:spcPts val="2200"/>
              </a:lnSpc>
            </a:pPr>
            <a:r>
              <a:rPr sz="2000" b="0">
                <a:solidFill>
                  <a:srgbClr val="333333"/>
                </a:solidFill>
                <a:latin typeface="Calibri"/>
              </a:rPr>
              <a:t>Un trait entre deux nœuds est une arête : les deux cellules sont reliées</a:t>
            </a:r>
          </a:p>
          <a:p>
            <a:pPr lvl="0" marL="457200" indent="-228600">
              <a:buFont typeface="Calibri"/>
              <a:spcAft>
                <a:spcPts val="1000"/>
              </a:spcAft>
              <a:buSzPct val="100000"/>
              <a:buChar char="•"/>
              <a:lnSpc>
                <a:spcPts val="2200"/>
              </a:lnSpc>
            </a:pPr>
            <a:r>
              <a:rPr sz="2000" b="0">
                <a:solidFill>
                  <a:srgbClr val="333333"/>
                </a:solidFill>
                <a:latin typeface="Calibri"/>
              </a:rPr>
              <a:t>Le nombre sur une arête est son poids : combien de fils relient la paire</a:t>
            </a:r>
          </a:p>
          <a:p>
            <a:pPr lvl="0" marL="457200" indent="-228600">
              <a:buFont typeface="Calibri"/>
              <a:spcAft>
                <a:spcPts val="1000"/>
              </a:spcAft>
              <a:buSzPct val="100000"/>
              <a:buChar char="•"/>
              <a:lnSpc>
                <a:spcPts val="2200"/>
              </a:lnSpc>
            </a:pPr>
            <a:r>
              <a:rPr sz="2000" b="0">
                <a:solidFill>
                  <a:srgbClr val="333333"/>
                </a:solidFill>
                <a:latin typeface="Calibri"/>
              </a:rPr>
              <a:t>Notre exemple a cinq cellules, de A à E</a:t>
            </a:r>
          </a:p>
          <a:p>
            <a:pPr lvl="0" marL="457200" indent="-228600">
              <a:buFont typeface="Calibri"/>
              <a:spcAft>
                <a:spcPts val="1000"/>
              </a:spcAft>
              <a:buSzPct val="100000"/>
              <a:buChar char="•"/>
              <a:lnSpc>
                <a:spcPts val="2200"/>
              </a:lnSpc>
            </a:pPr>
            <a:r>
              <a:rPr sz="2000" b="0">
                <a:solidFill>
                  <a:srgbClr val="333333"/>
                </a:solidFill>
                <a:latin typeface="Calibri"/>
              </a:rPr>
              <a:t>Les arêtes les plus lourdes, A–B et D–E, ont cinq fils chacune</a:t>
            </a:r>
          </a:p>
        </p:txBody>
      </p:sp>
      <p:pic>
        <p:nvPicPr>
          <p:cNvPr id="4" name="Picture 3" descr="chip-to-graph.png"/>
          <p:cNvPicPr>
            <a:picLocks noChangeAspect="1"/>
          </p:cNvPicPr>
          <p:nvPr/>
        </p:nvPicPr>
        <p:blipFill>
          <a:blip r:embed="rId2"/>
          <a:stretch>
            <a:fillRect/>
          </a:stretch>
        </p:blipFill>
        <p:spPr>
          <a:xfrm>
            <a:off x="6172200" y="1234440"/>
            <a:ext cx="3978092"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Deux nombres : coupe et équilibre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Couper une puce en deux côtés s'appelle une bipartition</a:t>
            </a:r>
          </a:p>
          <a:p>
            <a:pPr lvl="0" marL="457200" indent="-228600">
              <a:buFont typeface="Calibri"/>
              <a:spcAft>
                <a:spcPts val="1000"/>
              </a:spcAft>
              <a:buSzPct val="100000"/>
              <a:buChar char="•"/>
              <a:lnSpc>
                <a:spcPts val="2200"/>
              </a:lnSpc>
            </a:pPr>
            <a:r>
              <a:rPr sz="2000" b="0">
                <a:solidFill>
                  <a:srgbClr val="333333"/>
                </a:solidFill>
                <a:latin typeface="Calibri"/>
              </a:rPr>
              <a:t>Les arêtes qui passent d'un côté à l'autre sont coupées, et on les dessine en rouge</a:t>
            </a:r>
          </a:p>
          <a:p>
            <a:pPr lvl="0" marL="457200" indent="-228600">
              <a:buFont typeface="Calibri"/>
              <a:spcAft>
                <a:spcPts val="1000"/>
              </a:spcAft>
              <a:buSzPct val="100000"/>
              <a:buChar char="•"/>
              <a:lnSpc>
                <a:spcPts val="2200"/>
              </a:lnSpc>
            </a:pPr>
            <a:r>
              <a:rPr sz="2000" b="0">
                <a:solidFill>
                  <a:srgbClr val="333333"/>
                </a:solidFill>
                <a:latin typeface="Calibri"/>
              </a:rPr>
              <a:t>La taille de coupe additionne leurs poids : ici, deux plus un font trois</a:t>
            </a:r>
          </a:p>
          <a:p>
            <a:pPr lvl="0" marL="457200" indent="-228600">
              <a:buFont typeface="Calibri"/>
              <a:spcAft>
                <a:spcPts val="1000"/>
              </a:spcAft>
              <a:buSzPct val="100000"/>
              <a:buChar char="•"/>
              <a:lnSpc>
                <a:spcPts val="2200"/>
              </a:lnSpc>
            </a:pPr>
            <a:r>
              <a:rPr sz="2000" b="0">
                <a:solidFill>
                  <a:srgbClr val="333333"/>
                </a:solidFill>
                <a:latin typeface="Calibri"/>
              </a:rPr>
              <a:t>Tout mettre du même côté donne une coupe de zéro, mais cela ne sert à rien</a:t>
            </a:r>
          </a:p>
          <a:p>
            <a:pPr lvl="0" marL="457200" indent="-228600">
              <a:buFont typeface="Calibri"/>
              <a:spcAft>
                <a:spcPts val="1000"/>
              </a:spcAft>
              <a:buSzPct val="100000"/>
              <a:buChar char="•"/>
              <a:lnSpc>
                <a:spcPts val="2200"/>
              </a:lnSpc>
            </a:pPr>
            <a:r>
              <a:rPr sz="2000" b="0">
                <a:solidFill>
                  <a:srgbClr val="333333"/>
                </a:solidFill>
                <a:latin typeface="Calibri"/>
              </a:rPr>
              <a:t>On vérifie donc aussi l'équilibre : combien de cellules chaque côté contient</a:t>
            </a:r>
          </a:p>
          <a:p>
            <a:pPr lvl="0" marL="457200" indent="-228600">
              <a:buFont typeface="Calibri"/>
              <a:spcAft>
                <a:spcPts val="1000"/>
              </a:spcAft>
              <a:buSzPct val="100000"/>
              <a:buChar char="•"/>
              <a:lnSpc>
                <a:spcPts val="2200"/>
              </a:lnSpc>
            </a:pPr>
            <a:r>
              <a:rPr sz="2000" b="0">
                <a:solidFill>
                  <a:srgbClr val="333333"/>
                </a:solidFill>
                <a:latin typeface="Calibri"/>
              </a:rPr>
              <a:t>Une partition est valide quand aucun côté ne dépasse trois cellules sur cinq</a:t>
            </a:r>
          </a:p>
        </p:txBody>
      </p:sp>
      <p:pic>
        <p:nvPicPr>
          <p:cNvPr id="4" name="Picture 3" descr="cut-and-balance.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Pourquoi une partition de départ ?</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Les labs quatre et cinq enseignent deux méthodes célèbres, appelées KL et FM</a:t>
            </a:r>
          </a:p>
          <a:p>
            <a:pPr lvl="0" marL="457200" indent="-228600">
              <a:buFont typeface="Calibri"/>
              <a:spcAft>
                <a:spcPts val="1000"/>
              </a:spcAft>
              <a:buSzPct val="100000"/>
              <a:buChar char="•"/>
              <a:lnSpc>
                <a:spcPts val="2200"/>
              </a:lnSpc>
            </a:pPr>
            <a:r>
              <a:rPr sz="2000" b="0">
                <a:solidFill>
                  <a:srgbClr val="333333"/>
                </a:solidFill>
                <a:latin typeface="Calibri"/>
              </a:rPr>
              <a:t>Elles améliorent une partition en déplaçant des cellules d'un côté à l'autre</a:t>
            </a:r>
          </a:p>
          <a:p>
            <a:pPr lvl="0" marL="457200" indent="-228600">
              <a:buFont typeface="Calibri"/>
              <a:spcAft>
                <a:spcPts val="1000"/>
              </a:spcAft>
              <a:buSzPct val="100000"/>
              <a:buChar char="•"/>
              <a:lnSpc>
                <a:spcPts val="2200"/>
              </a:lnSpc>
            </a:pPr>
            <a:r>
              <a:rPr sz="2000" b="0">
                <a:solidFill>
                  <a:srgbClr val="333333"/>
                </a:solidFill>
                <a:latin typeface="Calibri"/>
              </a:rPr>
              <a:t>Mais elles ne peuvent qu'améliorer : il leur faut une partition valide pour démarrer</a:t>
            </a:r>
          </a:p>
          <a:p>
            <a:pPr lvl="0" marL="457200" indent="-228600">
              <a:buFont typeface="Calibri"/>
              <a:spcAft>
                <a:spcPts val="1000"/>
              </a:spcAft>
              <a:buSzPct val="100000"/>
              <a:buChar char="•"/>
              <a:lnSpc>
                <a:spcPts val="2200"/>
              </a:lnSpc>
            </a:pPr>
            <a:r>
              <a:rPr sz="2000" b="0">
                <a:solidFill>
                  <a:srgbClr val="333333"/>
                </a:solidFill>
                <a:latin typeface="Calibri"/>
              </a:rPr>
              <a:t>Pensez à former deux équipes pour un jeu</a:t>
            </a:r>
          </a:p>
          <a:p>
            <a:pPr lvl="0" marL="457200" indent="-228600">
              <a:buFont typeface="Calibri"/>
              <a:spcAft>
                <a:spcPts val="1000"/>
              </a:spcAft>
              <a:buSzPct val="100000"/>
              <a:buChar char="•"/>
              <a:lnSpc>
                <a:spcPts val="2200"/>
              </a:lnSpc>
            </a:pPr>
            <a:r>
              <a:rPr sz="2000" b="0">
                <a:solidFill>
                  <a:srgbClr val="333333"/>
                </a:solidFill>
                <a:latin typeface="Calibri"/>
              </a:rPr>
              <a:t>D'abord deux équipes au hasard, puis on échange des joueurs pour équilibrer</a:t>
            </a:r>
          </a:p>
          <a:p>
            <a:pPr lvl="0" marL="457200" indent="-228600">
              <a:buFont typeface="Calibri"/>
              <a:spcAft>
                <a:spcPts val="1000"/>
              </a:spcAft>
              <a:buSzPct val="100000"/>
              <a:buChar char="•"/>
              <a:lnSpc>
                <a:spcPts val="2200"/>
              </a:lnSpc>
            </a:pPr>
            <a:r>
              <a:rPr sz="2000" b="0">
                <a:solidFill>
                  <a:srgbClr val="333333"/>
                </a:solidFill>
                <a:latin typeface="Calibri"/>
              </a:rPr>
              <a:t>Un bon premier découpage laisse moins d'échanges à faire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Il faut une partition de départ valide</a:t>
            </a:r>
          </a:p>
        </p:txBody>
      </p:sp>
      <p:pic>
        <p:nvPicPr>
          <p:cNvPr id="3" name="Picture 2" descr="01-empt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Il faut une partition de départ valide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Aléatoire, graine 5 : ABC|DE, coupe 3</a:t>
            </a:r>
          </a:p>
        </p:txBody>
      </p:sp>
      <p:pic>
        <p:nvPicPr>
          <p:cNvPr id="3" name="Picture 2" descr="02-random-luck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Aléatoire, graine 5 : ABC|DE, coupe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Glouton : ABC|DE, coupe 3</a:t>
            </a:r>
          </a:p>
        </p:txBody>
      </p:sp>
      <p:pic>
        <p:nvPicPr>
          <p:cNvPr id="3" name="Picture 2" descr="03-greed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Glouton : ABC|DE, coupe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Croissance depuis D : ABC|DE, coupe 3</a:t>
            </a:r>
          </a:p>
        </p:txBody>
      </p:sp>
      <p:pic>
        <p:nvPicPr>
          <p:cNvPr id="3" name="Picture 2" descr="04-grow-d.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Croissance depuis D : ABC|DE, coupe 3</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Essayer plusieurs départs, garder le meilleur</a:t>
            </a:r>
          </a:p>
        </p:txBody>
      </p:sp>
      <p:pic>
        <p:nvPicPr>
          <p:cNvPr id="3" name="Picture 2" descr="05-takeaway.png"/>
          <p:cNvPicPr>
            <a:picLocks noChangeAspect="1"/>
          </p:cNvPicPr>
          <p:nvPr/>
        </p:nvPicPr>
        <p:blipFill>
          <a:blip r:embed="rId2"/>
          <a:stretch>
            <a:fillRect/>
          </a:stretch>
        </p:blipFill>
        <p:spPr>
          <a:xfrm>
            <a:off x="548640" y="1143000"/>
            <a:ext cx="918307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Essayer plusieurs départs, garder le meilleur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Exemple détaillé : une graine malchanceuse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Voyons maintenant jusqu'où peut aller la malchance</a:t>
            </a:r>
          </a:p>
          <a:p>
            <a:pPr lvl="0" marL="457200" indent="-228600">
              <a:buFont typeface="Calibri"/>
              <a:spcAft>
                <a:spcPts val="1000"/>
              </a:spcAft>
              <a:buSzPct val="100000"/>
              <a:buChar char="•"/>
              <a:lnSpc>
                <a:spcPts val="2200"/>
              </a:lnSpc>
            </a:pPr>
            <a:r>
              <a:rPr sz="2000" b="0">
                <a:solidFill>
                  <a:srgbClr val="333333"/>
                </a:solidFill>
                <a:latin typeface="Calibri"/>
              </a:rPr>
              <a:t>Avec la graine trois, le mélange donne B et D à un côté</a:t>
            </a:r>
          </a:p>
          <a:p>
            <a:pPr lvl="0" marL="457200" indent="-228600">
              <a:buFont typeface="Calibri"/>
              <a:spcAft>
                <a:spcPts val="1000"/>
              </a:spcAft>
              <a:buSzPct val="100000"/>
              <a:buChar char="•"/>
              <a:lnSpc>
                <a:spcPts val="2200"/>
              </a:lnSpc>
            </a:pPr>
            <a:r>
              <a:rPr sz="2000" b="0">
                <a:solidFill>
                  <a:srgbClr val="333333"/>
                </a:solidFill>
                <a:latin typeface="Calibri"/>
              </a:rPr>
              <a:t>A, C et E se retrouvent de l'autre</a:t>
            </a:r>
          </a:p>
          <a:p>
            <a:pPr lvl="0" marL="457200" indent="-228600">
              <a:buFont typeface="Calibri"/>
              <a:spcAft>
                <a:spcPts val="1000"/>
              </a:spcAft>
              <a:buSzPct val="100000"/>
              <a:buChar char="•"/>
              <a:lnSpc>
                <a:spcPts val="2200"/>
              </a:lnSpc>
            </a:pPr>
            <a:r>
              <a:rPr sz="2000" b="0">
                <a:solidFill>
                  <a:srgbClr val="333333"/>
                </a:solidFill>
                <a:latin typeface="Calibri"/>
              </a:rPr>
              <a:t>Additionnons la coupe, arête par arête</a:t>
            </a:r>
          </a:p>
          <a:p>
            <a:pPr lvl="0" marL="457200" indent="-228600">
              <a:buFont typeface="Calibri"/>
              <a:spcAft>
                <a:spcPts val="1000"/>
              </a:spcAft>
              <a:buSzPct val="100000"/>
              <a:buChar char="•"/>
              <a:lnSpc>
                <a:spcPts val="2200"/>
              </a:lnSpc>
            </a:pPr>
            <a:r>
              <a:rPr sz="2000" b="0">
                <a:solidFill>
                  <a:srgbClr val="333333"/>
                </a:solidFill>
                <a:latin typeface="Calibri"/>
              </a:rPr>
              <a:t>A–B cinq, B–C quatre, C–D deux et D–E cinq : seize au total</a:t>
            </a:r>
          </a:p>
          <a:p>
            <a:pPr lvl="0" marL="457200" indent="-228600">
              <a:buFont typeface="Calibri"/>
              <a:spcAft>
                <a:spcPts val="1000"/>
              </a:spcAft>
              <a:buSzPct val="100000"/>
              <a:buChar char="•"/>
              <a:lnSpc>
                <a:spcPts val="2200"/>
              </a:lnSpc>
            </a:pPr>
            <a:r>
              <a:rPr sz="2000" b="0">
                <a:solidFill>
                  <a:srgbClr val="333333"/>
                </a:solidFill>
                <a:latin typeface="Calibri"/>
              </a:rPr>
              <a:t>Les deux arêtes lourdes sont coupées, donc c'est la pire partition valide qui existe</a:t>
            </a:r>
          </a:p>
        </p:txBody>
      </p:sp>
      <p:pic>
        <p:nvPicPr>
          <p:cNvPr id="4" name="Picture 3" descr="worked-unlucky.png"/>
          <p:cNvPicPr>
            <a:picLocks noChangeAspect="1"/>
          </p:cNvPicPr>
          <p:nvPr/>
        </p:nvPicPr>
        <p:blipFill>
          <a:blip r:embed="rId2"/>
          <a:stretch>
            <a:fillRect/>
          </a:stretch>
        </p:blipFill>
        <p:spPr>
          <a:xfrm>
            <a:off x="6172200" y="1234440"/>
            <a:ext cx="4991147" cy="475488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 croissance dépend du nœud de départ</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 croissance n'a pas de hasard, mais elle a un choix : le nœud de départ</a:t>
            </a:r>
          </a:p>
          <a:p>
            <a:pPr lvl="0" marL="457200" indent="-228600">
              <a:buFont typeface="Calibri"/>
              <a:spcAft>
                <a:spcPts val="1000"/>
              </a:spcAft>
              <a:buSzPct val="100000"/>
              <a:buChar char="•"/>
              <a:lnSpc>
                <a:spcPts val="2200"/>
              </a:lnSpc>
            </a:pPr>
            <a:r>
              <a:rPr sz="2000" b="0">
                <a:solidFill>
                  <a:srgbClr val="333333"/>
                </a:solidFill>
                <a:latin typeface="Calibri"/>
              </a:rPr>
              <a:t>Partons de A au lieu de D</a:t>
            </a:r>
          </a:p>
          <a:p>
            <a:pPr lvl="0" marL="457200" indent="-228600">
              <a:buFont typeface="Calibri"/>
              <a:spcAft>
                <a:spcPts val="1000"/>
              </a:spcAft>
              <a:buSzPct val="100000"/>
              <a:buChar char="•"/>
              <a:lnSpc>
                <a:spcPts val="2200"/>
              </a:lnSpc>
            </a:pPr>
            <a:r>
              <a:rPr sz="2000" b="0">
                <a:solidFill>
                  <a:srgbClr val="333333"/>
                </a:solidFill>
                <a:latin typeface="Calibri"/>
              </a:rPr>
              <a:t>L'arête la plus lourde qui sort de A va vers B, avec un poids de cinq, donc B rejoint A</a:t>
            </a:r>
          </a:p>
          <a:p>
            <a:pPr lvl="0" marL="457200" indent="-228600">
              <a:buFont typeface="Calibri"/>
              <a:spcAft>
                <a:spcPts val="1000"/>
              </a:spcAft>
              <a:buSzPct val="100000"/>
              <a:buChar char="•"/>
              <a:lnSpc>
                <a:spcPts val="2200"/>
              </a:lnSpc>
            </a:pPr>
            <a:r>
              <a:rPr sz="2000" b="0">
                <a:solidFill>
                  <a:srgbClr val="333333"/>
                </a:solidFill>
                <a:latin typeface="Calibri"/>
              </a:rPr>
              <a:t>Avec deux cellules, le côté est plein, et il s'arrête</a:t>
            </a:r>
          </a:p>
          <a:p>
            <a:pPr lvl="0" marL="457200" indent="-228600">
              <a:buFont typeface="Calibri"/>
              <a:spcAft>
                <a:spcPts val="1000"/>
              </a:spcAft>
              <a:buSzPct val="100000"/>
              <a:buChar char="•"/>
              <a:lnSpc>
                <a:spcPts val="2200"/>
              </a:lnSpc>
            </a:pPr>
            <a:r>
              <a:rPr sz="2000" b="0">
                <a:solidFill>
                  <a:srgbClr val="333333"/>
                </a:solidFill>
                <a:latin typeface="Calibri"/>
              </a:rPr>
              <a:t>C, D et E forment l'autre côté, donc A–C et B–C sont coupées</a:t>
            </a:r>
          </a:p>
          <a:p>
            <a:pPr lvl="0" marL="457200" indent="-228600">
              <a:buFont typeface="Calibri"/>
              <a:spcAft>
                <a:spcPts val="1000"/>
              </a:spcAft>
              <a:buSzPct val="100000"/>
              <a:buChar char="•"/>
              <a:lnSpc>
                <a:spcPts val="2200"/>
              </a:lnSpc>
            </a:pPr>
            <a:r>
              <a:rPr sz="2000" b="0">
                <a:solidFill>
                  <a:srgbClr val="333333"/>
                </a:solidFill>
                <a:latin typeface="Calibri"/>
              </a:rPr>
              <a:t>Un plus quatre font cinq, ce qui est pire que trois</a:t>
            </a:r>
          </a:p>
        </p:txBody>
      </p:sp>
      <p:pic>
        <p:nvPicPr>
          <p:cNvPr id="4" name="Picture 3" descr="grow-a.png"/>
          <p:cNvPicPr>
            <a:picLocks noChangeAspect="1"/>
          </p:cNvPicPr>
          <p:nvPr/>
        </p:nvPicPr>
        <p:blipFill>
          <a:blip r:embed="rId2"/>
          <a:stretch>
            <a:fillRect/>
          </a:stretch>
        </p:blipFill>
        <p:spPr>
          <a:xfrm>
            <a:off x="6172200" y="1234440"/>
            <a:ext cx="4733871"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Garder le meilleur départ valide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La solution est simple : ne jamais faire confiance à un seul départ</a:t>
            </a:r>
          </a:p>
          <a:p>
            <a:pPr lvl="0" marL="457200" indent="-228600">
              <a:buFont typeface="Calibri"/>
              <a:spcAft>
                <a:spcPts val="1000"/>
              </a:spcAft>
              <a:buSzPct val="100000"/>
              <a:buChar char="•"/>
              <a:lnSpc>
                <a:spcPts val="2200"/>
              </a:lnSpc>
            </a:pPr>
            <a:r>
              <a:rPr sz="2000" b="0">
                <a:solidFill>
                  <a:srgbClr val="333333"/>
                </a:solidFill>
                <a:latin typeface="Calibri"/>
              </a:rPr>
              <a:t>Construisez-en plusieurs : graines aléatoires, glouton, croissance depuis chaque nœud</a:t>
            </a:r>
          </a:p>
          <a:p>
            <a:pPr lvl="0" marL="457200" indent="-228600">
              <a:buFont typeface="Calibri"/>
              <a:spcAft>
                <a:spcPts val="1000"/>
              </a:spcAft>
              <a:buSzPct val="100000"/>
              <a:buChar char="•"/>
              <a:lnSpc>
                <a:spcPts val="2200"/>
              </a:lnSpc>
            </a:pPr>
            <a:r>
              <a:rPr sz="2000" b="0">
                <a:solidFill>
                  <a:srgbClr val="333333"/>
                </a:solidFill>
                <a:latin typeface="Calibri"/>
              </a:rPr>
              <a:t>Jetez toute partition qui enfreint la règle de taille</a:t>
            </a:r>
          </a:p>
          <a:p>
            <a:pPr lvl="0" marL="457200" indent="-228600">
              <a:buFont typeface="Calibri"/>
              <a:spcAft>
                <a:spcPts val="1000"/>
              </a:spcAft>
              <a:buSzPct val="100000"/>
              <a:buChar char="•"/>
              <a:lnSpc>
                <a:spcPts val="2200"/>
              </a:lnSpc>
            </a:pPr>
            <a:r>
              <a:rPr sz="2000" b="0">
                <a:solidFill>
                  <a:srgbClr val="333333"/>
                </a:solidFill>
                <a:latin typeface="Calibri"/>
              </a:rPr>
              <a:t>Gardez celle dont la coupe est la plus petite</a:t>
            </a:r>
          </a:p>
          <a:p>
            <a:pPr lvl="0" marL="457200" indent="-228600">
              <a:buFont typeface="Calibri"/>
              <a:spcAft>
                <a:spcPts val="1000"/>
              </a:spcAft>
              <a:buSzPct val="100000"/>
              <a:buChar char="•"/>
              <a:lnSpc>
                <a:spcPts val="2200"/>
              </a:lnSpc>
            </a:pPr>
            <a:r>
              <a:rPr sz="2000" b="0">
                <a:solidFill>
                  <a:srgbClr val="333333"/>
                </a:solidFill>
                <a:latin typeface="Calibri"/>
              </a:rPr>
              <a:t>Ici, le glouton et les cinq croissances donnent trois, cinq, cinq, neuf, trois, trois</a:t>
            </a:r>
          </a:p>
          <a:p>
            <a:pPr lvl="0" marL="457200" indent="-228600">
              <a:buFont typeface="Calibri"/>
              <a:spcAft>
                <a:spcPts val="1000"/>
              </a:spcAft>
              <a:buSzPct val="100000"/>
              <a:buChar char="•"/>
              <a:lnSpc>
                <a:spcPts val="2200"/>
              </a:lnSpc>
            </a:pPr>
            <a:r>
              <a:rPr sz="2000" b="0">
                <a:solidFill>
                  <a:srgbClr val="333333"/>
                </a:solidFill>
                <a:latin typeface="Calibri"/>
              </a:rPr>
              <a:t>Le meilleur est trois : A, B et C contre D et 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Garder le meilleur départ valide — à essayer</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best_start(graph):</a:t>
            </a:r>
          </a:p>
          <a:p>
            <a:pPr>
              <a:lnSpc>
                <a:spcPts val="2200"/>
              </a:lnSpc>
              <a:spcAft>
                <a:spcPts val="400"/>
              </a:spcAft>
            </a:pPr>
            <a:r>
              <a:rPr sz="2000" b="0">
                <a:solidFill>
                  <a:srgbClr val="333333"/>
                </a:solidFill>
                <a:latin typeface="Consolas"/>
              </a:rPr>
              <a:t>  starts = random(seed) pour quelques graines</a:t>
            </a:r>
          </a:p>
          <a:p>
            <a:pPr>
              <a:lnSpc>
                <a:spcPts val="2200"/>
              </a:lnSpc>
              <a:spcAft>
                <a:spcPts val="400"/>
              </a:spcAft>
            </a:pPr>
            <a:r>
              <a:rPr sz="2000" b="0">
                <a:solidFill>
                  <a:srgbClr val="333333"/>
                </a:solidFill>
                <a:latin typeface="Consolas"/>
              </a:rPr>
              <a:t>         + greedy</a:t>
            </a:r>
          </a:p>
          <a:p>
            <a:pPr>
              <a:lnSpc>
                <a:spcPts val="2200"/>
              </a:lnSpc>
              <a:spcAft>
                <a:spcPts val="400"/>
              </a:spcAft>
            </a:pPr>
            <a:r>
              <a:rPr sz="2000" b="0">
                <a:solidFill>
                  <a:srgbClr val="333333"/>
                </a:solidFill>
                <a:latin typeface="Consolas"/>
              </a:rPr>
              <a:t>         + grow(x) pour chaque nœud x</a:t>
            </a:r>
          </a:p>
          <a:p>
            <a:pPr>
              <a:lnSpc>
                <a:spcPts val="2200"/>
              </a:lnSpc>
              <a:spcAft>
                <a:spcPts val="400"/>
              </a:spcAft>
            </a:pPr>
            <a:r>
              <a:rPr sz="2000" b="0">
                <a:solidFill>
                  <a:srgbClr val="333333"/>
                </a:solidFill>
                <a:latin typeface="Consolas"/>
              </a:rPr>
              <a:t>  jeter chaque départ qui n'est pas valide</a:t>
            </a:r>
          </a:p>
          <a:p>
            <a:pPr>
              <a:lnSpc>
                <a:spcPts val="2200"/>
              </a:lnSpc>
              <a:spcAft>
                <a:spcPts val="400"/>
              </a:spcAft>
            </a:pPr>
            <a:r>
              <a:rPr sz="2000" b="0">
                <a:solidFill>
                  <a:srgbClr val="333333"/>
                </a:solidFill>
                <a:latin typeface="Consolas"/>
              </a:rPr>
              <a:t>  renvoyer le départ de plus petite taille de coupe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Une limite de taille garde la partition valide</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Voici une étoile : A est au milieu, relié à toutes les autres cellules</a:t>
            </a:r>
          </a:p>
          <a:p>
            <a:pPr lvl="0" marL="457200" indent="-228600">
              <a:buFont typeface="Calibri"/>
              <a:spcAft>
                <a:spcPts val="1000"/>
              </a:spcAft>
              <a:buSzPct val="100000"/>
              <a:buChar char="•"/>
              <a:lnSpc>
                <a:spcPts val="2200"/>
              </a:lnSpc>
            </a:pPr>
            <a:r>
              <a:rPr sz="2000" b="0">
                <a:solidFill>
                  <a:srgbClr val="333333"/>
                </a:solidFill>
                <a:latin typeface="Calibri"/>
              </a:rPr>
              <a:t>A–B pèse neuf, et les quatre autres arêtes pèsent cinq</a:t>
            </a:r>
          </a:p>
          <a:p>
            <a:pPr lvl="0" marL="457200" indent="-228600">
              <a:buFont typeface="Calibri"/>
              <a:spcAft>
                <a:spcPts val="1000"/>
              </a:spcAft>
              <a:buSzPct val="100000"/>
              <a:buChar char="•"/>
              <a:lnSpc>
                <a:spcPts val="2200"/>
              </a:lnSpc>
            </a:pPr>
            <a:r>
              <a:rPr sz="2000" b="0">
                <a:solidFill>
                  <a:srgbClr val="333333"/>
                </a:solidFill>
                <a:latin typeface="Calibri"/>
              </a:rPr>
              <a:t>Avec six cellules, chaque côté doit en contenir exactement trois</a:t>
            </a:r>
          </a:p>
          <a:p>
            <a:pPr lvl="0" marL="457200" indent="-228600">
              <a:buFont typeface="Calibri"/>
              <a:spcAft>
                <a:spcPts val="1000"/>
              </a:spcAft>
              <a:buSzPct val="100000"/>
              <a:buChar char="•"/>
              <a:lnSpc>
                <a:spcPts val="2200"/>
              </a:lnSpc>
            </a:pPr>
            <a:r>
              <a:rPr sz="2000" b="0">
                <a:solidFill>
                  <a:srgbClr val="333333"/>
                </a:solidFill>
                <a:latin typeface="Calibri"/>
              </a:rPr>
              <a:t>Un ancien glouton sans limite de taille ajoutait toujours des cellules près de A</a:t>
            </a:r>
          </a:p>
          <a:p>
            <a:pPr lvl="0" marL="457200" indent="-228600">
              <a:buFont typeface="Calibri"/>
              <a:spcAft>
                <a:spcPts val="1000"/>
              </a:spcAft>
              <a:buSzPct val="100000"/>
              <a:buChar char="•"/>
              <a:lnSpc>
                <a:spcPts val="2200"/>
              </a:lnSpc>
            </a:pPr>
            <a:r>
              <a:rPr sz="2000" b="0">
                <a:solidFill>
                  <a:srgbClr val="333333"/>
                </a:solidFill>
                <a:latin typeface="Calibri"/>
              </a:rPr>
              <a:t>Il finissait avec cinq cellules contre une : coupe cinq, mais pas valide</a:t>
            </a:r>
          </a:p>
          <a:p>
            <a:pPr lvl="0" marL="457200" indent="-228600">
              <a:buFont typeface="Calibri"/>
              <a:spcAft>
                <a:spcPts val="1000"/>
              </a:spcAft>
              <a:buSzPct val="100000"/>
              <a:buChar char="•"/>
              <a:lnSpc>
                <a:spcPts val="2200"/>
              </a:lnSpc>
            </a:pPr>
            <a:r>
              <a:rPr sz="2000" b="0">
                <a:solidFill>
                  <a:srgbClr val="333333"/>
                </a:solidFill>
                <a:latin typeface="Calibri"/>
              </a:rPr>
              <a:t>Notre glouton arrête chaque côté à trois cellules, et obtient quinze</a:t>
            </a:r>
          </a:p>
        </p:txBody>
      </p:sp>
      <p:pic>
        <p:nvPicPr>
          <p:cNvPr id="4" name="Picture 3" descr="star-cap.png"/>
          <p:cNvPicPr>
            <a:picLocks noChangeAspect="1"/>
          </p:cNvPicPr>
          <p:nvPr/>
        </p:nvPicPr>
        <p:blipFill>
          <a:blip r:embed="rId2"/>
          <a:stretch>
            <a:fillRect/>
          </a:stretch>
        </p:blipFill>
        <p:spPr>
          <a:xfrm>
            <a:off x="6172200" y="1234440"/>
            <a:ext cx="3733215"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Une égalité peut décider du résultat</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Dans ce graphe, A–B et D–E pèsent de nouveau cinq toutes les deux</a:t>
            </a:r>
          </a:p>
          <a:p>
            <a:pPr lvl="0" marL="457200" indent="-228600">
              <a:buFont typeface="Calibri"/>
              <a:spcAft>
                <a:spcPts val="1000"/>
              </a:spcAft>
              <a:buSzPct val="100000"/>
              <a:buChar char="•"/>
              <a:lnSpc>
                <a:spcPts val="2200"/>
              </a:lnSpc>
            </a:pPr>
            <a:r>
              <a:rPr sz="2000" b="0">
                <a:solidFill>
                  <a:srgbClr val="333333"/>
                </a:solidFill>
                <a:latin typeface="Calibri"/>
              </a:rPr>
              <a:t>Le glouton doit en choisir une pour démarrer</a:t>
            </a:r>
          </a:p>
          <a:p>
            <a:pPr lvl="0" marL="457200" indent="-228600">
              <a:buFont typeface="Calibri"/>
              <a:spcAft>
                <a:spcPts val="1000"/>
              </a:spcAft>
              <a:buSzPct val="100000"/>
              <a:buChar char="•"/>
              <a:lnSpc>
                <a:spcPts val="2200"/>
              </a:lnSpc>
            </a:pPr>
            <a:r>
              <a:rPr sz="2000" b="0">
                <a:solidFill>
                  <a:srgbClr val="333333"/>
                </a:solidFill>
                <a:latin typeface="Calibri"/>
              </a:rPr>
              <a:t>La règle prend le plus petit nom, A–B, et cela donne une taille de coupe de neuf</a:t>
            </a:r>
          </a:p>
          <a:p>
            <a:pPr lvl="0" marL="457200" indent="-228600">
              <a:buFont typeface="Calibri"/>
              <a:spcAft>
                <a:spcPts val="1000"/>
              </a:spcAft>
              <a:buSzPct val="100000"/>
              <a:buChar char="•"/>
              <a:lnSpc>
                <a:spcPts val="2200"/>
              </a:lnSpc>
            </a:pPr>
            <a:r>
              <a:rPr sz="2000" b="0">
                <a:solidFill>
                  <a:srgbClr val="333333"/>
                </a:solidFill>
                <a:latin typeface="Calibri"/>
              </a:rPr>
              <a:t>Démarrer de D–E donne une taille de coupe de quatre</a:t>
            </a:r>
          </a:p>
          <a:p>
            <a:pPr lvl="0" marL="457200" indent="-228600">
              <a:buFont typeface="Calibri"/>
              <a:spcAft>
                <a:spcPts val="1000"/>
              </a:spcAft>
              <a:buSzPct val="100000"/>
              <a:buChar char="•"/>
              <a:lnSpc>
                <a:spcPts val="2200"/>
              </a:lnSpc>
            </a:pPr>
            <a:r>
              <a:rPr sz="2000" b="0">
                <a:solidFill>
                  <a:srgbClr val="333333"/>
                </a:solidFill>
                <a:latin typeface="Calibri"/>
              </a:rPr>
              <a:t>Une simple règle de départage a donc plus que doublé la coupe</a:t>
            </a:r>
          </a:p>
          <a:p>
            <a:pPr lvl="0" marL="457200" indent="-228600">
              <a:buFont typeface="Calibri"/>
              <a:spcAft>
                <a:spcPts val="1000"/>
              </a:spcAft>
              <a:buSzPct val="100000"/>
              <a:buChar char="•"/>
              <a:lnSpc>
                <a:spcPts val="2200"/>
              </a:lnSpc>
            </a:pPr>
            <a:r>
              <a:rPr sz="2000" b="0">
                <a:solidFill>
                  <a:srgbClr val="333333"/>
                </a:solidFill>
                <a:latin typeface="Calibri"/>
              </a:rPr>
              <a:t>La croissance depuis C trouve aussi quatre, une raison de plus d'essayer plusieurs départs</a:t>
            </a:r>
          </a:p>
        </p:txBody>
      </p:sp>
      <p:pic>
        <p:nvPicPr>
          <p:cNvPr id="4" name="Picture 3" descr="tie-graph.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 fil le plus lourd n'est pas toujours à l'intérieur</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Voici deux triangles, reliés par un seul pont, C–D, de poids quatre</a:t>
            </a:r>
          </a:p>
          <a:p>
            <a:pPr lvl="0" marL="457200" indent="-228600">
              <a:buFont typeface="Calibri"/>
              <a:spcAft>
                <a:spcPts val="1000"/>
              </a:spcAft>
              <a:buSzPct val="100000"/>
              <a:buChar char="•"/>
              <a:lnSpc>
                <a:spcPts val="2200"/>
              </a:lnSpc>
            </a:pPr>
            <a:r>
              <a:rPr sz="2000" b="0">
                <a:solidFill>
                  <a:srgbClr val="333333"/>
                </a:solidFill>
                <a:latin typeface="Calibri"/>
              </a:rPr>
              <a:t>Chaque arête de triangle pèse trois</a:t>
            </a:r>
          </a:p>
          <a:p>
            <a:pPr lvl="0" marL="457200" indent="-228600">
              <a:buFont typeface="Calibri"/>
              <a:spcAft>
                <a:spcPts val="1000"/>
              </a:spcAft>
              <a:buSzPct val="100000"/>
              <a:buChar char="•"/>
              <a:lnSpc>
                <a:spcPts val="2200"/>
              </a:lnSpc>
            </a:pPr>
            <a:r>
              <a:rPr sz="2000" b="0">
                <a:solidFill>
                  <a:srgbClr val="333333"/>
                </a:solidFill>
                <a:latin typeface="Calibri"/>
              </a:rPr>
              <a:t>La coupe naturelle met un triangle de chaque côté, et ne coupe que le pont</a:t>
            </a:r>
          </a:p>
          <a:p>
            <a:pPr lvl="0" marL="457200" indent="-228600">
              <a:buFont typeface="Calibri"/>
              <a:spcAft>
                <a:spcPts val="1000"/>
              </a:spcAft>
              <a:buSzPct val="100000"/>
              <a:buChar char="•"/>
              <a:lnSpc>
                <a:spcPts val="2200"/>
              </a:lnSpc>
            </a:pPr>
            <a:r>
              <a:rPr sz="2000" b="0">
                <a:solidFill>
                  <a:srgbClr val="333333"/>
                </a:solidFill>
                <a:latin typeface="Calibri"/>
              </a:rPr>
              <a:t>Mais le glouton démarre de l'arête la plus lourde, et ici c'est le pont lui-même</a:t>
            </a:r>
          </a:p>
          <a:p>
            <a:pPr lvl="0" marL="457200" indent="-228600">
              <a:buFont typeface="Calibri"/>
              <a:spcAft>
                <a:spcPts val="1000"/>
              </a:spcAft>
              <a:buSzPct val="100000"/>
              <a:buChar char="•"/>
              <a:lnSpc>
                <a:spcPts val="2200"/>
              </a:lnSpc>
            </a:pPr>
            <a:r>
              <a:rPr sz="2000" b="0">
                <a:solidFill>
                  <a:srgbClr val="333333"/>
                </a:solidFill>
                <a:latin typeface="Calibri"/>
              </a:rPr>
              <a:t>C et D commencent donc du même côté, et la coupe finit à douze</a:t>
            </a:r>
          </a:p>
          <a:p>
            <a:pPr lvl="0" marL="457200" indent="-228600">
              <a:buFont typeface="Calibri"/>
              <a:spcAft>
                <a:spcPts val="1000"/>
              </a:spcAft>
              <a:buSzPct val="100000"/>
              <a:buChar char="•"/>
              <a:lnSpc>
                <a:spcPts val="2200"/>
              </a:lnSpc>
            </a:pPr>
            <a:r>
              <a:rPr sz="2000" b="0">
                <a:solidFill>
                  <a:srgbClr val="333333"/>
                </a:solidFill>
                <a:latin typeface="Calibri"/>
              </a:rPr>
              <a:t>La croissance depuis A garde son triangle ensemble et ne coupe que le pont : quatre</a:t>
            </a:r>
          </a:p>
        </p:txBody>
      </p:sp>
      <p:pic>
        <p:nvPicPr>
          <p:cNvPr id="4" name="Picture 3" descr="bridge-graph.png"/>
          <p:cNvPicPr>
            <a:picLocks noChangeAspect="1"/>
          </p:cNvPicPr>
          <p:nvPr/>
        </p:nvPicPr>
        <p:blipFill>
          <a:blip r:embed="rId2"/>
          <a:stretch>
            <a:fillRect/>
          </a:stretch>
        </p:blipFill>
        <p:spPr>
          <a:xfrm>
            <a:off x="6172200" y="1234440"/>
            <a:ext cx="4007853" cy="4754879"/>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Parcours lab dans le navigateur</a:t>
            </a:r>
          </a:p>
        </p:txBody>
      </p:sp>
      <p:pic>
        <p:nvPicPr>
          <p:cNvPr id="3" name="Picture 2" descr="lab-starter.png"/>
          <p:cNvPicPr>
            <a:picLocks noChangeAspect="1"/>
          </p:cNvPicPr>
          <p:nvPr/>
        </p:nvPicPr>
        <p:blipFill>
          <a:blip r:embed="rId2"/>
          <a:stretch>
            <a:fillRect/>
          </a:stretch>
        </p:blipFill>
        <p:spPr>
          <a:xfrm>
            <a:off x="548640" y="1143000"/>
            <a:ext cx="5418666"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dans le navigateur, état de départ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Parcours implémentation</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Une vraie session de terminal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Parcours implémentation — à essayer</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 afficher toutes les bonnes réponses</a:t>
            </a:r>
          </a:p>
          <a:p>
            <a:pPr>
              <a:lnSpc>
                <a:spcPts val="2200"/>
              </a:lnSpc>
              <a:spcAft>
                <a:spcPts val="400"/>
              </a:spcAft>
            </a:pPr>
            <a:r>
              <a:rPr sz="2000" b="0">
                <a:solidFill>
                  <a:srgbClr val="333333"/>
                </a:solidFill>
                <a:latin typeface="Consolas"/>
              </a:rPr>
              <a:t>python3 examples/initial_bipartition_check.py --show</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vérifier vos propres fonctions</a:t>
            </a:r>
          </a:p>
          <a:p>
            <a:pPr>
              <a:lnSpc>
                <a:spcPts val="2200"/>
              </a:lnSpc>
              <a:spcAft>
                <a:spcPts val="400"/>
              </a:spcAft>
            </a:pPr>
            <a:r>
              <a:rPr sz="2000" b="0">
                <a:solidFill>
                  <a:srgbClr val="333333"/>
                </a:solidFill>
                <a:latin typeface="Consolas"/>
              </a:rPr>
              <a:t>python3 examples/initial_bipartition_check.py --impl my_init.py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Pièges à éviter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Attention à quatre erreurs courantes</a:t>
            </a:r>
          </a:p>
          <a:p>
            <a:pPr lvl="0" marL="457200" indent="-228600">
              <a:buFont typeface="Calibri"/>
              <a:spcAft>
                <a:spcPts val="1000"/>
              </a:spcAft>
              <a:buSzPct val="100000"/>
              <a:buChar char="•"/>
              <a:lnSpc>
                <a:spcPts val="2200"/>
              </a:lnSpc>
            </a:pPr>
            <a:r>
              <a:rPr sz="2000" b="0">
                <a:solidFill>
                  <a:srgbClr val="333333"/>
                </a:solidFill>
                <a:latin typeface="Calibri"/>
              </a:rPr>
              <a:t>Donner la taille de coupe sans l'équilibre</a:t>
            </a:r>
          </a:p>
          <a:p>
            <a:pPr lvl="0" marL="457200" indent="-228600">
              <a:buFont typeface="Calibri"/>
              <a:spcAft>
                <a:spcPts val="1000"/>
              </a:spcAft>
              <a:buSzPct val="100000"/>
              <a:buChar char="•"/>
              <a:lnSpc>
                <a:spcPts val="2200"/>
              </a:lnSpc>
            </a:pPr>
            <a:r>
              <a:rPr sz="2000" b="0">
                <a:solidFill>
                  <a:srgbClr val="333333"/>
                </a:solidFill>
                <a:latin typeface="Calibri"/>
              </a:rPr>
              <a:t>Laisser un côté dépasser sa limite, ce qui embellit la coupe</a:t>
            </a:r>
          </a:p>
          <a:p>
            <a:pPr lvl="0" marL="457200" indent="-228600">
              <a:buFont typeface="Calibri"/>
              <a:spcAft>
                <a:spcPts val="1000"/>
              </a:spcAft>
              <a:buSzPct val="100000"/>
              <a:buChar char="•"/>
              <a:lnSpc>
                <a:spcPts val="2200"/>
              </a:lnSpc>
            </a:pPr>
            <a:r>
              <a:rPr sz="2000" b="0">
                <a:solidFill>
                  <a:srgbClr val="333333"/>
                </a:solidFill>
                <a:latin typeface="Calibri"/>
              </a:rPr>
              <a:t>Se fier à une seule graine : ici, la coupe va de trois à seize</a:t>
            </a:r>
          </a:p>
          <a:p>
            <a:pPr lvl="0" marL="457200" indent="-228600">
              <a:buFont typeface="Calibri"/>
              <a:spcAft>
                <a:spcPts val="1000"/>
              </a:spcAft>
              <a:buSzPct val="100000"/>
              <a:buChar char="•"/>
              <a:lnSpc>
                <a:spcPts val="2200"/>
              </a:lnSpc>
            </a:pPr>
            <a:r>
              <a:rPr sz="2000" b="0">
                <a:solidFill>
                  <a:srgbClr val="333333"/>
                </a:solidFill>
                <a:latin typeface="Calibri"/>
              </a:rPr>
              <a:t>Et départager selon l'ordre de l'entrée : la réponse change avec le fichier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Bilan : trois façons de démarrer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Des méthodes comme KL et FM ont besoin d'une première partition valide</a:t>
            </a:r>
          </a:p>
          <a:p>
            <a:pPr lvl="0" marL="457200" indent="-228600">
              <a:buFont typeface="Calibri"/>
              <a:spcAft>
                <a:spcPts val="1000"/>
              </a:spcAft>
              <a:buSzPct val="100000"/>
              <a:buChar char="•"/>
              <a:lnSpc>
                <a:spcPts val="2200"/>
              </a:lnSpc>
            </a:pPr>
            <a:r>
              <a:rPr sz="2000" b="0">
                <a:solidFill>
                  <a:srgbClr val="333333"/>
                </a:solidFill>
                <a:latin typeface="Calibri"/>
              </a:rPr>
              <a:t>L'aléatoire mélange et distribue : c'est rapide, mais cela dépend de la chance</a:t>
            </a:r>
          </a:p>
          <a:p>
            <a:pPr lvl="0" marL="457200" indent="-228600">
              <a:buFont typeface="Calibri"/>
              <a:spcAft>
                <a:spcPts val="1000"/>
              </a:spcAft>
              <a:buSzPct val="100000"/>
              <a:buChar char="•"/>
              <a:lnSpc>
                <a:spcPts val="2200"/>
              </a:lnSpc>
            </a:pPr>
            <a:r>
              <a:rPr sz="2000" b="0">
                <a:solidFill>
                  <a:srgbClr val="333333"/>
                </a:solidFill>
                <a:latin typeface="Calibri"/>
              </a:rPr>
              <a:t>Le glouton garde l'arête la plus lourde dedans, puis coupe le moins possible</a:t>
            </a:r>
          </a:p>
          <a:p>
            <a:pPr lvl="0" marL="457200" indent="-228600">
              <a:buFont typeface="Calibri"/>
              <a:spcAft>
                <a:spcPts val="1000"/>
              </a:spcAft>
              <a:buSzPct val="100000"/>
              <a:buChar char="•"/>
              <a:lnSpc>
                <a:spcPts val="2200"/>
              </a:lnSpc>
            </a:pPr>
            <a:r>
              <a:rPr sz="2000" b="0">
                <a:solidFill>
                  <a:srgbClr val="333333"/>
                </a:solidFill>
                <a:latin typeface="Calibri"/>
              </a:rPr>
              <a:t>La croissance s'étend depuis un nœud de départ, donc le nœud de départ compte</a:t>
            </a:r>
          </a:p>
          <a:p>
            <a:pPr lvl="0" marL="457200" indent="-228600">
              <a:buFont typeface="Calibri"/>
              <a:spcAft>
                <a:spcPts val="1000"/>
              </a:spcAft>
              <a:buSzPct val="100000"/>
              <a:buChar char="•"/>
              <a:lnSpc>
                <a:spcPts val="2200"/>
              </a:lnSpc>
            </a:pPr>
            <a:r>
              <a:rPr sz="2000" b="0">
                <a:solidFill>
                  <a:srgbClr val="333333"/>
                </a:solidFill>
                <a:latin typeface="Calibri"/>
              </a:rPr>
              <a:t>Les égalités et les limites de taille peuvent changer la réponse</a:t>
            </a:r>
          </a:p>
          <a:p>
            <a:pPr lvl="0" marL="457200" indent="-228600">
              <a:buFont typeface="Calibri"/>
              <a:spcAft>
                <a:spcPts val="1000"/>
              </a:spcAft>
              <a:buSzPct val="100000"/>
              <a:buChar char="•"/>
              <a:lnSpc>
                <a:spcPts val="2200"/>
              </a:lnSpc>
            </a:pPr>
            <a:r>
              <a:rPr sz="2000" b="0">
                <a:solidFill>
                  <a:srgbClr val="333333"/>
                </a:solidFill>
                <a:latin typeface="Calibri"/>
              </a:rPr>
              <a:t>Construisez plusieurs départs, gardez les valides, choisissez la plus petite coupe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À vous de jouer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C'est maintenant à vous</a:t>
            </a:r>
          </a:p>
          <a:p>
            <a:pPr lvl="0" marL="457200" indent="-228600">
              <a:buFont typeface="Calibri"/>
              <a:spcAft>
                <a:spcPts val="1000"/>
              </a:spcAft>
              <a:buSzPct val="100000"/>
              <a:buChar char="•"/>
              <a:lnSpc>
                <a:spcPts val="2200"/>
              </a:lnSpc>
            </a:pPr>
            <a:r>
              <a:rPr sz="2000" b="0">
                <a:solidFill>
                  <a:srgbClr val="333333"/>
                </a:solidFill>
                <a:latin typeface="Calibri"/>
              </a:rPr>
              <a:t>Choisissez un parcours : le lab dans le navigateur, le parcours Python, ou les deux</a:t>
            </a:r>
          </a:p>
          <a:p>
            <a:pPr lvl="0" marL="457200" indent="-228600">
              <a:buFont typeface="Calibri"/>
              <a:spcAft>
                <a:spcPts val="1000"/>
              </a:spcAft>
              <a:buSzPct val="100000"/>
              <a:buChar char="•"/>
              <a:lnSpc>
                <a:spcPts val="2200"/>
              </a:lnSpc>
            </a:pPr>
            <a:r>
              <a:rPr sz="2000" b="0">
                <a:solidFill>
                  <a:srgbClr val="333333"/>
                </a:solidFill>
                <a:latin typeface="Calibri"/>
              </a:rPr>
              <a:t>Cochez chaque case de la liste de contrôle au fur et à mesure</a:t>
            </a:r>
          </a:p>
          <a:p>
            <a:pPr lvl="0" marL="457200" indent="-228600">
              <a:buFont typeface="Calibri"/>
              <a:spcAft>
                <a:spcPts val="1000"/>
              </a:spcAft>
              <a:buSzPct val="100000"/>
              <a:buChar char="•"/>
              <a:lnSpc>
                <a:spcPts val="2200"/>
              </a:lnSpc>
            </a:pPr>
            <a:r>
              <a:rPr sz="2000" b="0">
                <a:solidFill>
                  <a:srgbClr val="333333"/>
                </a:solidFill>
                <a:latin typeface="Calibri"/>
              </a:rPr>
              <a:t>Puis faites le court quiz pour vérifier les idées principales</a:t>
            </a:r>
          </a:p>
          <a:p>
            <a:pPr lvl="0" marL="457200" indent="-228600">
              <a:buFont typeface="Calibri"/>
              <a:spcAft>
                <a:spcPts val="1000"/>
              </a:spcAft>
              <a:buSzPct val="100000"/>
              <a:buChar char="•"/>
              <a:lnSpc>
                <a:spcPts val="2200"/>
              </a:lnSpc>
            </a:pPr>
            <a:r>
              <a:rPr sz="2000" b="0">
                <a:solidFill>
                  <a:srgbClr val="333333"/>
                </a:solidFill>
                <a:latin typeface="Calibri"/>
              </a:rPr>
              <a:t>La suite, c'est Kernighan–Lin, qui part de votre partition et l'améliore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learn_partitioning — 03 bipartition initiale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